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Name, why you're the one presenting it, and that the whole thing already runs — you'll be clicking into the live app twice. Say up front that the last slide is a list of four decisions you need from them, so they know where this is going and don't spend the walkthrough wondering.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were not here for these — say so, and say you are reading them off the SN5 review rather than diagnosing anyone's season. The facts are the credibility; the interpretation is not yours to offer. Land on PP-09: the first two cost time, the third is why they were hard to catch, because Slack is write-only memory. If someone says PP-02 was bad luck, the 5-why in pain-points.md gets to a UK supplier with multi-week customs lead time being treated like a next-day vendor — a process gap, not luck. The mechanism behind all three is turnover plus verbal training; they know that better than you do, so say it in one sentence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standards slide before the ask — do not tour them. The bridge into the rest of the deck is the last line, and it is worth saying in full out loud: a standard sitting in a folder is a document, and the same standard wired into a buy-off step is a gate somebody has to pass. That is the whole argument for the app existing rather than just the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once, here, that the figures on these screens are seeded demo data — the $2,054 tile and the purchase amounts later are not real spend. It costs a sentence and it protects every sourced number in the rest of the deck. Dashboard is read-only on purpose — every row is a link into the tab it came from. Say the URL out loud. If someone opens it on their phone right now, they will hit the login and see nothing,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precise here because it is the question a lead actually asks: what stops a first-year deleting the season? Answer: deletes are lead-only and it is checked on the server, so it holds even if someone opens the console. Do not oversell it — see the limits slide; anyone on the roster can still edit any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spends the walkthrough wondering what they haven't been shown. Say it plainly: you are going to follow one part end to end rather than tour tabs, and the four highlighted are where that path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SN5 Part Tracker collapsed a part to one number and it was always wrong, because mold can be done while layup hasn't started. Three stages is the fix. This screen is the real SN5 tracker data, 33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 design decision that makes the rest work. If offcuts are a different kind of thing, nobody records them, and the planner ends up planning against fiction. Load SN5 archive brings in the rack SN5 left behind, so a fresh project has something to plan against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thing, but it is the difference between a demo and a tool. The sample shown holds three bodies. Mention the units line on that form — an STL carries no units, and getting it wrong is a 25.4x mistake, so the app makes you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 switch to the live app here if the room is with you. What is on the slide is the exploded stack: the dashed outline on each layer is the mold, traced from the stored STL. What is NOT on the slide, and is worth clicking to, is the 3D view above it on the same page — the actual mold sitting inside the translucent blocks. Before that existed the reviewer only ever had the dashed outline, and signing off the CS-003 §7.2 fit review was an act of faith. Drag to rotate; pinch works on a phone at the bench, which is where the sign-off usually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detail is the whole value: an export that lands anywhere else means someone re-models the stock by hand, which is what we were trying to avoid. Beta is honest — say it. It has not been through a full machining cycle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Per-side insets off the board below, PLUS an absolute datum table — because a board sawn oversize makes every edge-relative number wrong in the same direction, and the datum is how you catch it. A value not on a 1/16 gets an approximately-equals sign, so the fraction never gets read as the truth. The mold silhouette is traced off the stored STL, not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SN6 record, not the retro archive. Point at the frozen-stack line: PP-04 was a part remade three or more times because no frozen thickness or DXF was shared between subteams. Freezing it at a revision is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is on the slide on purpose — it is the lead's first real question and it should not wait until the limits slide. Say what it closes: 'nobody knows who did this', not 'somebody falsified this'. If pressed on why it isn't tamper-proof, the honest answer is that version history and per-record locking are real work nobody has done yet, and the monthly JSON export to Drive is the audit trail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third page means the back of the sheet is somewhere else and the buy-off columns get lost. Worth one line on why this was hard: a sheet is 8.5in — 816 CSS pixels — so on a phone the browser blew the viewport out to contain it and parked the Initial and Date columns off the right edge. It fits the sheet to the screen now, and forces full size when it actually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replaced two separate things that were the same thing — Projects and Issues. Comments take real formatting and photo attachments, which matters because most of what goes wrong is easier to photograph than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Carpools sound trivial and are not: RFS is a drive, and a layup that misses its slot because the ride fell through costs the same as one that fails. This is a second view over the same schedule as the Timeline tab, not a separate plan to keep in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scan-receipt button opens the phone camera directly and attaches the photo to the purchase — no OCR, nothing clever, just the photo taken where the receipt is. This slide usually gets the most nodding from whoever has been fronting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datasheets being in the app rather than a Drive folder is the difference between checking a mix ratio and guessing it. Reports exists so the Monday meeting stops being someone rebuilding a summary by hand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arguments, and they are the same argument. First, the build: not that vanilla JS is better, but that a student team cannot carry a dependency tree that rots — a framework upgrade nobody is around to do is how these tools die two seasons later. The old single-file work-orders.html is still in the repo and opens any exported JSON with no server at all. Second, the tests: everything else in the repo asserts on strings and numbers, and a sheet passes all of that while printing a dimension straight through a dimension line, or running off the side of a phone. Both of those shipped once. That is why two suites render in headless Chromium and measure what the layout actually did. Plus the Firestore rules run under the emulator, and the app test is 1,917 lines across every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slowly and do not soften it. A lead who finds a limitation themselves after adopting it stops trusting everything else you said. Every one of these is written in the repo's own README already — you are reading it out, not confessing.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after this. The second one is the one that actually matters and is the easiest to defer: the Firebase project is on a personal Google account, so it is one graduation away from being unreachable. Ask for a name and a date on each, in the room. If you only get one, get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D2B"/>
        </a:solidFill>
      </p:bgPr>
    </p:bg>
    <p:spTree>
      <p:nvGrpSpPr>
        <p:cNvPr id="1" name=""/>
        <p:cNvGrpSpPr/>
        <p:nvPr/>
      </p:nvGrpSpPr>
      <p:grpSpPr>
        <a:xfrm>
          <a:off x="0" y="0"/>
          <a:ext cx="0" cy="0"/>
          <a:chOff x="0" y="0"/>
          <a:chExt cx="0" cy="0"/>
        </a:xfrm>
      </p:grpSpPr>
      <p:sp>
        <p:nvSpPr>
          <p:cNvPr id="2" name="Text 0"/>
          <p:cNvSpPr/>
          <p:nvPr/>
        </p:nvSpPr>
        <p:spPr>
          <a:xfrm>
            <a:off x="685800" y="1417320"/>
            <a:ext cx="7315200" cy="1234440"/>
          </a:xfrm>
          <a:prstGeom prst="rect">
            <a:avLst/>
          </a:prstGeom>
          <a:noFill/>
          <a:ln/>
        </p:spPr>
        <p:txBody>
          <a:bodyPr wrap="square" lIns="0" tIns="0" rIns="0" bIns="0" rtlCol="0" anchor="ctr"/>
          <a:lstStyle/>
          <a:p>
            <a:pPr indent="0" marL="0">
              <a:buNone/>
            </a:pPr>
            <a:r>
              <a:rPr lang="en-US" sz="8600" b="1" spc="150" kern="0" dirty="0">
                <a:solidFill>
                  <a:srgbClr val="FFFFFF"/>
                </a:solidFill>
                <a:latin typeface="Arial" pitchFamily="34" charset="0"/>
                <a:ea typeface="Arial" pitchFamily="34" charset="-122"/>
                <a:cs typeface="Arial" pitchFamily="34" charset="-120"/>
              </a:rPr>
              <a:t>FEB</a:t>
            </a:r>
            <a:endParaRPr lang="en-US" sz="8600" dirty="0"/>
          </a:p>
        </p:txBody>
      </p:sp>
      <p:sp>
        <p:nvSpPr>
          <p:cNvPr id="3" name="Text 1"/>
          <p:cNvSpPr/>
          <p:nvPr/>
        </p:nvSpPr>
        <p:spPr>
          <a:xfrm>
            <a:off x="685800" y="2514600"/>
            <a:ext cx="7680960" cy="1234440"/>
          </a:xfrm>
          <a:prstGeom prst="rect">
            <a:avLst/>
          </a:prstGeom>
          <a:noFill/>
          <a:ln/>
        </p:spPr>
        <p:txBody>
          <a:bodyPr wrap="square" lIns="0" tIns="0" rIns="0" bIns="0" rtlCol="0" anchor="ctr"/>
          <a:lstStyle/>
          <a:p>
            <a:pPr indent="0" marL="0">
              <a:buNone/>
            </a:pPr>
            <a:r>
              <a:rPr lang="en-US" sz="8600" b="1" spc="150" kern="0" dirty="0">
                <a:solidFill>
                  <a:srgbClr val="FDB515"/>
                </a:solidFill>
                <a:latin typeface="Arial" pitchFamily="34" charset="0"/>
                <a:ea typeface="Arial" pitchFamily="34" charset="-122"/>
                <a:cs typeface="Arial" pitchFamily="34" charset="-120"/>
              </a:rPr>
              <a:t>COMPOSITES</a:t>
            </a:r>
            <a:endParaRPr lang="en-US" sz="8600" dirty="0"/>
          </a:p>
        </p:txBody>
      </p:sp>
      <p:sp>
        <p:nvSpPr>
          <p:cNvPr id="4" name="Text 2"/>
          <p:cNvSpPr/>
          <p:nvPr/>
        </p:nvSpPr>
        <p:spPr>
          <a:xfrm>
            <a:off x="685800" y="3977640"/>
            <a:ext cx="6309360" cy="914400"/>
          </a:xfrm>
          <a:prstGeom prst="rect">
            <a:avLst/>
          </a:prstGeom>
          <a:noFill/>
          <a:ln/>
        </p:spPr>
        <p:txBody>
          <a:bodyPr wrap="square" lIns="0" tIns="0" rIns="0" bIns="0" rtlCol="0" anchor="ctr"/>
          <a:lstStyle/>
          <a:p>
            <a:pPr indent="0" marL="0">
              <a:lnSpc>
                <a:spcPts val="2300"/>
              </a:lnSpc>
              <a:buNone/>
            </a:pPr>
            <a:r>
              <a:rPr lang="en-US" sz="1600" dirty="0">
                <a:solidFill>
                  <a:srgbClr val="9FB0C4"/>
                </a:solidFill>
                <a:latin typeface="Arial" pitchFamily="34" charset="0"/>
                <a:ea typeface="Arial" pitchFamily="34" charset="-122"/>
                <a:cs typeface="Arial" pitchFamily="34" charset="-120"/>
              </a:rPr>
              <a:t>The SN6 workspace — what it does, how it's built, and what I need from you</a:t>
            </a:r>
            <a:endParaRPr lang="en-US" sz="1600" dirty="0"/>
          </a:p>
        </p:txBody>
      </p:sp>
      <p:sp>
        <p:nvSpPr>
          <p:cNvPr id="5" name="Text 3"/>
          <p:cNvSpPr/>
          <p:nvPr/>
        </p:nvSpPr>
        <p:spPr>
          <a:xfrm>
            <a:off x="685800" y="5623560"/>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[Your name]   ·   [Meeting date]</a:t>
            </a:r>
            <a:endParaRPr lang="en-US" sz="1200" dirty="0"/>
          </a:p>
        </p:txBody>
      </p:sp>
      <p:sp>
        <p:nvSpPr>
          <p:cNvPr id="6" name="Text 4"/>
          <p:cNvSpPr/>
          <p:nvPr/>
        </p:nvSpPr>
        <p:spPr>
          <a:xfrm>
            <a:off x="685800" y="5943600"/>
            <a:ext cx="5486400" cy="292608"/>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Live at feb-composites.web.app</a:t>
            </a:r>
            <a:endParaRPr lang="en-US" sz="1300" dirty="0"/>
          </a:p>
        </p:txBody>
      </p:sp>
      <p:sp>
        <p:nvSpPr>
          <p:cNvPr id="7" name="Shape 5"/>
          <p:cNvSpPr/>
          <p:nvPr/>
        </p:nvSpPr>
        <p:spPr>
          <a:xfrm>
            <a:off x="8549640" y="1417320"/>
            <a:ext cx="10973" cy="4206240"/>
          </a:xfrm>
          <a:prstGeom prst="rect">
            <a:avLst/>
          </a:prstGeom>
          <a:solidFill>
            <a:srgbClr val="2B3648"/>
          </a:solidFill>
          <a:ln/>
        </p:spPr>
      </p:sp>
      <p:sp>
        <p:nvSpPr>
          <p:cNvPr id="8" name="Text 6"/>
          <p:cNvSpPr/>
          <p:nvPr/>
        </p:nvSpPr>
        <p:spPr>
          <a:xfrm>
            <a:off x="8778240" y="1417320"/>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189720" y="1417320"/>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What SN5 cost</a:t>
            </a:r>
            <a:endParaRPr lang="en-US" sz="1300" dirty="0"/>
          </a:p>
        </p:txBody>
      </p:sp>
      <p:sp>
        <p:nvSpPr>
          <p:cNvPr id="10" name="Text 8"/>
          <p:cNvSpPr/>
          <p:nvPr/>
        </p:nvSpPr>
        <p:spPr>
          <a:xfrm>
            <a:off x="8778240" y="2020824"/>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9189720" y="2020824"/>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What it is</a:t>
            </a:r>
            <a:endParaRPr lang="en-US" sz="1300" dirty="0"/>
          </a:p>
        </p:txBody>
      </p:sp>
      <p:sp>
        <p:nvSpPr>
          <p:cNvPr id="12" name="Text 10"/>
          <p:cNvSpPr/>
          <p:nvPr/>
        </p:nvSpPr>
        <p:spPr>
          <a:xfrm>
            <a:off x="8778240" y="2624328"/>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9189720" y="2624328"/>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One part, end to end</a:t>
            </a:r>
            <a:endParaRPr lang="en-US" sz="1300" dirty="0"/>
          </a:p>
        </p:txBody>
      </p:sp>
      <p:sp>
        <p:nvSpPr>
          <p:cNvPr id="14" name="Text 12"/>
          <p:cNvSpPr/>
          <p:nvPr/>
        </p:nvSpPr>
        <p:spPr>
          <a:xfrm>
            <a:off x="8778240" y="3227832"/>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9189720" y="3227832"/>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The traveler</a:t>
            </a:r>
            <a:endParaRPr lang="en-US" sz="1300" dirty="0"/>
          </a:p>
        </p:txBody>
      </p:sp>
      <p:sp>
        <p:nvSpPr>
          <p:cNvPr id="16" name="Text 14"/>
          <p:cNvSpPr/>
          <p:nvPr/>
        </p:nvSpPr>
        <p:spPr>
          <a:xfrm>
            <a:off x="8778240" y="3831336"/>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5</a:t>
            </a:r>
            <a:endParaRPr lang="en-US" sz="1300" dirty="0"/>
          </a:p>
        </p:txBody>
      </p:sp>
      <p:sp>
        <p:nvSpPr>
          <p:cNvPr id="17" name="Text 15"/>
          <p:cNvSpPr/>
          <p:nvPr/>
        </p:nvSpPr>
        <p:spPr>
          <a:xfrm>
            <a:off x="9189720" y="3831336"/>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Running the season</a:t>
            </a:r>
            <a:endParaRPr lang="en-US" sz="1300" dirty="0"/>
          </a:p>
        </p:txBody>
      </p:sp>
      <p:sp>
        <p:nvSpPr>
          <p:cNvPr id="18" name="Text 16"/>
          <p:cNvSpPr/>
          <p:nvPr/>
        </p:nvSpPr>
        <p:spPr>
          <a:xfrm>
            <a:off x="8778240" y="4434840"/>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6</a:t>
            </a:r>
            <a:endParaRPr lang="en-US" sz="1300" dirty="0"/>
          </a:p>
        </p:txBody>
      </p:sp>
      <p:sp>
        <p:nvSpPr>
          <p:cNvPr id="19" name="Text 17"/>
          <p:cNvSpPr/>
          <p:nvPr/>
        </p:nvSpPr>
        <p:spPr>
          <a:xfrm>
            <a:off x="9189720" y="4434840"/>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Why it survives handoff</a:t>
            </a:r>
            <a:endParaRPr lang="en-US" sz="1300" dirty="0"/>
          </a:p>
        </p:txBody>
      </p:sp>
      <p:sp>
        <p:nvSpPr>
          <p:cNvPr id="20" name="Text 18"/>
          <p:cNvSpPr/>
          <p:nvPr/>
        </p:nvSpPr>
        <p:spPr>
          <a:xfrm>
            <a:off x="8778240" y="5038344"/>
            <a:ext cx="365760" cy="36576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7</a:t>
            </a:r>
            <a:endParaRPr lang="en-US" sz="1300" dirty="0"/>
          </a:p>
        </p:txBody>
      </p:sp>
      <p:sp>
        <p:nvSpPr>
          <p:cNvPr id="21" name="Text 19"/>
          <p:cNvSpPr/>
          <p:nvPr/>
        </p:nvSpPr>
        <p:spPr>
          <a:xfrm>
            <a:off x="9189720" y="5038344"/>
            <a:ext cx="2651760" cy="365760"/>
          </a:xfrm>
          <a:prstGeom prst="rect">
            <a:avLst/>
          </a:prstGeom>
          <a:noFill/>
          <a:ln/>
        </p:spPr>
        <p:txBody>
          <a:bodyPr wrap="square" lIns="0" tIns="0" rIns="0" bIns="0" rtlCol="0" anchor="ctr"/>
          <a:lstStyle/>
          <a:p>
            <a:pPr indent="0" marL="0">
              <a:buNone/>
            </a:pPr>
            <a:r>
              <a:rPr lang="en-US" sz="1300" dirty="0">
                <a:solidFill>
                  <a:srgbClr val="9FB0C4"/>
                </a:solidFill>
                <a:latin typeface="Arial" pitchFamily="34" charset="0"/>
                <a:ea typeface="Arial" pitchFamily="34" charset="-122"/>
                <a:cs typeface="Arial" pitchFamily="34" charset="-120"/>
              </a:rPr>
              <a:t>Limits and the ask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D2B"/>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FDB515"/>
                </a:solidFill>
                <a:latin typeface="Arial" pitchFamily="34" charset="0"/>
                <a:ea typeface="Arial" pitchFamily="34" charset="-122"/>
                <a:cs typeface="Arial" pitchFamily="34" charset="-120"/>
              </a:rPr>
              <a:t>01  WHAT SN5 COST</a:t>
            </a:r>
            <a:endParaRPr lang="en-US" sz="1050" dirty="0"/>
          </a:p>
        </p:txBody>
      </p:sp>
      <p:sp>
        <p:nvSpPr>
          <p:cNvPr id="3" name="Text 1"/>
          <p:cNvSpPr/>
          <p:nvPr/>
        </p:nvSpPr>
        <p:spPr>
          <a:xfrm>
            <a:off x="685800" y="914400"/>
            <a:ext cx="10607040" cy="914400"/>
          </a:xfrm>
          <a:prstGeom prst="rect">
            <a:avLst/>
          </a:prstGeom>
          <a:noFill/>
          <a:ln/>
        </p:spPr>
        <p:txBody>
          <a:bodyPr wrap="square" lIns="0" tIns="0" rIns="0" bIns="0" rtlCol="0" anchor="t"/>
          <a:lstStyle/>
          <a:p>
            <a:pPr indent="0" marL="0">
              <a:lnSpc>
                <a:spcPts val="3712"/>
              </a:lnSpc>
              <a:buNone/>
            </a:pPr>
            <a:r>
              <a:rPr lang="en-US" sz="3200" b="1" dirty="0">
                <a:solidFill>
                  <a:srgbClr val="FFFFFF"/>
                </a:solidFill>
                <a:latin typeface="Arial" pitchFamily="34" charset="0"/>
                <a:ea typeface="Arial" pitchFamily="34" charset="-122"/>
                <a:cs typeface="Arial" pitchFamily="34" charset="-120"/>
              </a:rPr>
              <a:t>Three from the SN5 review</a:t>
            </a:r>
            <a:endParaRPr lang="en-US" sz="3200" dirty="0"/>
          </a:p>
        </p:txBody>
      </p:sp>
      <p:sp>
        <p:nvSpPr>
          <p:cNvPr id="4" name="Text 2"/>
          <p:cNvSpPr/>
          <p:nvPr/>
        </p:nvSpPr>
        <p:spPr>
          <a:xfrm>
            <a:off x="685800" y="2148840"/>
            <a:ext cx="1188720" cy="292608"/>
          </a:xfrm>
          <a:prstGeom prst="rect">
            <a:avLst/>
          </a:prstGeom>
          <a:noFill/>
          <a:ln/>
        </p:spPr>
        <p:txBody>
          <a:bodyPr wrap="square" lIns="0" tIns="0" rIns="0" bIns="0" rtlCol="0" anchor="ctr"/>
          <a:lstStyle/>
          <a:p>
            <a:pPr indent="0" marL="0">
              <a:buNone/>
            </a:pPr>
            <a:r>
              <a:rPr lang="en-US" sz="1200" b="1" spc="140" kern="0" dirty="0">
                <a:solidFill>
                  <a:srgbClr val="FDB515"/>
                </a:solidFill>
                <a:latin typeface="Arial" pitchFamily="34" charset="0"/>
                <a:ea typeface="Arial" pitchFamily="34" charset="-122"/>
                <a:cs typeface="Arial" pitchFamily="34" charset="-120"/>
              </a:rPr>
              <a:t>PP-01</a:t>
            </a:r>
            <a:endParaRPr lang="en-US" sz="1200" dirty="0"/>
          </a:p>
        </p:txBody>
      </p:sp>
      <p:sp>
        <p:nvSpPr>
          <p:cNvPr id="5" name="Text 3"/>
          <p:cNvSpPr/>
          <p:nvPr/>
        </p:nvSpPr>
        <p:spPr>
          <a:xfrm>
            <a:off x="1874520" y="2121408"/>
            <a:ext cx="3017520" cy="640080"/>
          </a:xfrm>
          <a:prstGeom prst="rect">
            <a:avLst/>
          </a:prstGeom>
          <a:noFill/>
          <a:ln/>
        </p:spPr>
        <p:txBody>
          <a:bodyPr wrap="square" lIns="0" tIns="0" rIns="0" bIns="0" rtlCol="0" anchor="t"/>
          <a:lstStyle/>
          <a:p>
            <a:pPr indent="0" marL="0">
              <a:lnSpc>
                <a:spcPts val="2300"/>
              </a:lnSpc>
              <a:buNone/>
            </a:pPr>
            <a:r>
              <a:rPr lang="en-US" sz="1900" b="1" dirty="0">
                <a:solidFill>
                  <a:srgbClr val="FFFFFF"/>
                </a:solidFill>
                <a:latin typeface="Arial" pitchFamily="34" charset="0"/>
                <a:ea typeface="Arial" pitchFamily="34" charset="-122"/>
                <a:cs typeface="Arial" pitchFamily="34" charset="-120"/>
              </a:rPr>
              <a:t>Duratec</a:t>
            </a:r>
            <a:endParaRPr lang="en-US" sz="1900" dirty="0"/>
          </a:p>
        </p:txBody>
      </p:sp>
      <p:sp>
        <p:nvSpPr>
          <p:cNvPr id="6" name="Text 4"/>
          <p:cNvSpPr/>
          <p:nvPr/>
        </p:nvSpPr>
        <p:spPr>
          <a:xfrm>
            <a:off x="5029200" y="2130552"/>
            <a:ext cx="6446520" cy="1097280"/>
          </a:xfrm>
          <a:prstGeom prst="rect">
            <a:avLst/>
          </a:prstGeom>
          <a:noFill/>
          <a:ln/>
        </p:spPr>
        <p:txBody>
          <a:bodyPr wrap="square" lIns="0" tIns="0" rIns="0" bIns="0" rtlCol="0" anchor="t"/>
          <a:lstStyle/>
          <a:p>
            <a:pPr indent="0" marL="0">
              <a:lnSpc>
                <a:spcPts val="1900"/>
              </a:lnSpc>
              <a:buNone/>
            </a:pPr>
            <a:r>
              <a:rPr lang="en-US" sz="1350" dirty="0">
                <a:solidFill>
                  <a:srgbClr val="9FB0C4"/>
                </a:solidFill>
                <a:latin typeface="Arial" pitchFamily="34" charset="0"/>
                <a:ea typeface="Arial" pitchFamily="34" charset="-122"/>
                <a:cs typeface="Arial" pitchFamily="34" charset="-120"/>
              </a:rPr>
              <a:t>Days of mold time per incident, re-coating after sand-through.</a:t>
            </a:r>
            <a:endParaRPr lang="en-US" sz="1350" dirty="0"/>
          </a:p>
        </p:txBody>
      </p:sp>
      <p:sp>
        <p:nvSpPr>
          <p:cNvPr id="7" name="Shape 5"/>
          <p:cNvSpPr/>
          <p:nvPr/>
        </p:nvSpPr>
        <p:spPr>
          <a:xfrm>
            <a:off x="685800" y="3075432"/>
            <a:ext cx="10789920" cy="10973"/>
          </a:xfrm>
          <a:prstGeom prst="rect">
            <a:avLst/>
          </a:prstGeom>
          <a:solidFill>
            <a:srgbClr val="2B3648"/>
          </a:solidFill>
          <a:ln/>
        </p:spPr>
      </p:sp>
      <p:sp>
        <p:nvSpPr>
          <p:cNvPr id="8" name="Text 6"/>
          <p:cNvSpPr/>
          <p:nvPr/>
        </p:nvSpPr>
        <p:spPr>
          <a:xfrm>
            <a:off x="685800" y="3313176"/>
            <a:ext cx="1188720" cy="292608"/>
          </a:xfrm>
          <a:prstGeom prst="rect">
            <a:avLst/>
          </a:prstGeom>
          <a:noFill/>
          <a:ln/>
        </p:spPr>
        <p:txBody>
          <a:bodyPr wrap="square" lIns="0" tIns="0" rIns="0" bIns="0" rtlCol="0" anchor="ctr"/>
          <a:lstStyle/>
          <a:p>
            <a:pPr indent="0" marL="0">
              <a:buNone/>
            </a:pPr>
            <a:r>
              <a:rPr lang="en-US" sz="1200" b="1" spc="140" kern="0" dirty="0">
                <a:solidFill>
                  <a:srgbClr val="FDB515"/>
                </a:solidFill>
                <a:latin typeface="Arial" pitchFamily="34" charset="0"/>
                <a:ea typeface="Arial" pitchFamily="34" charset="-122"/>
                <a:cs typeface="Arial" pitchFamily="34" charset="-120"/>
              </a:rPr>
              <a:t>PP-02</a:t>
            </a:r>
            <a:endParaRPr lang="en-US" sz="1200" dirty="0"/>
          </a:p>
        </p:txBody>
      </p:sp>
      <p:sp>
        <p:nvSpPr>
          <p:cNvPr id="9" name="Text 7"/>
          <p:cNvSpPr/>
          <p:nvPr/>
        </p:nvSpPr>
        <p:spPr>
          <a:xfrm>
            <a:off x="1874520" y="3285744"/>
            <a:ext cx="3017520" cy="640080"/>
          </a:xfrm>
          <a:prstGeom prst="rect">
            <a:avLst/>
          </a:prstGeom>
          <a:noFill/>
          <a:ln/>
        </p:spPr>
        <p:txBody>
          <a:bodyPr wrap="square" lIns="0" tIns="0" rIns="0" bIns="0" rtlCol="0" anchor="t"/>
          <a:lstStyle/>
          <a:p>
            <a:pPr indent="0" marL="0">
              <a:lnSpc>
                <a:spcPts val="2300"/>
              </a:lnSpc>
              <a:buNone/>
            </a:pPr>
            <a:r>
              <a:rPr lang="en-US" sz="1900" b="1" dirty="0">
                <a:solidFill>
                  <a:srgbClr val="FFFFFF"/>
                </a:solidFill>
                <a:latin typeface="Arial" pitchFamily="34" charset="0"/>
                <a:ea typeface="Arial" pitchFamily="34" charset="-122"/>
                <a:cs typeface="Arial" pitchFamily="34" charset="-120"/>
              </a:rPr>
              <a:t>Customs</a:t>
            </a:r>
            <a:endParaRPr lang="en-US" sz="1900" dirty="0"/>
          </a:p>
        </p:txBody>
      </p:sp>
      <p:sp>
        <p:nvSpPr>
          <p:cNvPr id="10" name="Text 8"/>
          <p:cNvSpPr/>
          <p:nvPr/>
        </p:nvSpPr>
        <p:spPr>
          <a:xfrm>
            <a:off x="5029200" y="3294888"/>
            <a:ext cx="6446520" cy="1097280"/>
          </a:xfrm>
          <a:prstGeom prst="rect">
            <a:avLst/>
          </a:prstGeom>
          <a:noFill/>
          <a:ln/>
        </p:spPr>
        <p:txBody>
          <a:bodyPr wrap="square" lIns="0" tIns="0" rIns="0" bIns="0" rtlCol="0" anchor="t"/>
          <a:lstStyle/>
          <a:p>
            <a:pPr indent="0" marL="0">
              <a:lnSpc>
                <a:spcPts val="1900"/>
              </a:lnSpc>
              <a:buNone/>
            </a:pPr>
            <a:r>
              <a:rPr lang="en-US" sz="1350" dirty="0">
                <a:solidFill>
                  <a:srgbClr val="9FB0C4"/>
                </a:solidFill>
                <a:latin typeface="Arial" pitchFamily="34" charset="0"/>
                <a:ea typeface="Arial" pitchFamily="34" charset="-122"/>
                <a:cs typeface="Arial" pitchFamily="34" charset="-120"/>
              </a:rPr>
              <a:t>A ~109 lb Easy Composites order sat with no ETA. Rush replacements elsewhere: $120 of ACP rods, ~$400 to expedite.</a:t>
            </a:r>
            <a:endParaRPr lang="en-US" sz="1350" dirty="0"/>
          </a:p>
        </p:txBody>
      </p:sp>
      <p:sp>
        <p:nvSpPr>
          <p:cNvPr id="11" name="Shape 9"/>
          <p:cNvSpPr/>
          <p:nvPr/>
        </p:nvSpPr>
        <p:spPr>
          <a:xfrm>
            <a:off x="685800" y="4413504"/>
            <a:ext cx="10789920" cy="10973"/>
          </a:xfrm>
          <a:prstGeom prst="rect">
            <a:avLst/>
          </a:prstGeom>
          <a:solidFill>
            <a:srgbClr val="2B3648"/>
          </a:solidFill>
          <a:ln/>
        </p:spPr>
      </p:sp>
      <p:sp>
        <p:nvSpPr>
          <p:cNvPr id="12" name="Text 10"/>
          <p:cNvSpPr/>
          <p:nvPr/>
        </p:nvSpPr>
        <p:spPr>
          <a:xfrm>
            <a:off x="685800" y="4651248"/>
            <a:ext cx="1188720" cy="292608"/>
          </a:xfrm>
          <a:prstGeom prst="rect">
            <a:avLst/>
          </a:prstGeom>
          <a:noFill/>
          <a:ln/>
        </p:spPr>
        <p:txBody>
          <a:bodyPr wrap="square" lIns="0" tIns="0" rIns="0" bIns="0" rtlCol="0" anchor="ctr"/>
          <a:lstStyle/>
          <a:p>
            <a:pPr indent="0" marL="0">
              <a:buNone/>
            </a:pPr>
            <a:r>
              <a:rPr lang="en-US" sz="1200" b="1" spc="140" kern="0" dirty="0">
                <a:solidFill>
                  <a:srgbClr val="FDB515"/>
                </a:solidFill>
                <a:latin typeface="Arial" pitchFamily="34" charset="0"/>
                <a:ea typeface="Arial" pitchFamily="34" charset="-122"/>
                <a:cs typeface="Arial" pitchFamily="34" charset="-120"/>
              </a:rPr>
              <a:t>PP-09</a:t>
            </a:r>
            <a:endParaRPr lang="en-US" sz="1200" dirty="0"/>
          </a:p>
        </p:txBody>
      </p:sp>
      <p:sp>
        <p:nvSpPr>
          <p:cNvPr id="13" name="Text 11"/>
          <p:cNvSpPr/>
          <p:nvPr/>
        </p:nvSpPr>
        <p:spPr>
          <a:xfrm>
            <a:off x="1874520" y="4623816"/>
            <a:ext cx="3017520" cy="640080"/>
          </a:xfrm>
          <a:prstGeom prst="rect">
            <a:avLst/>
          </a:prstGeom>
          <a:noFill/>
          <a:ln/>
        </p:spPr>
        <p:txBody>
          <a:bodyPr wrap="square" lIns="0" tIns="0" rIns="0" bIns="0" rtlCol="0" anchor="t"/>
          <a:lstStyle/>
          <a:p>
            <a:pPr indent="0" marL="0">
              <a:lnSpc>
                <a:spcPts val="2300"/>
              </a:lnSpc>
              <a:buNone/>
            </a:pPr>
            <a:r>
              <a:rPr lang="en-US" sz="1900" b="1" dirty="0">
                <a:solidFill>
                  <a:srgbClr val="FFFFFF"/>
                </a:solidFill>
                <a:latin typeface="Arial" pitchFamily="34" charset="0"/>
                <a:ea typeface="Arial" pitchFamily="34" charset="-122"/>
                <a:cs typeface="Arial" pitchFamily="34" charset="-120"/>
              </a:rPr>
              <a:t>“What stack did we use?”</a:t>
            </a:r>
            <a:endParaRPr lang="en-US" sz="1900" dirty="0"/>
          </a:p>
        </p:txBody>
      </p:sp>
      <p:sp>
        <p:nvSpPr>
          <p:cNvPr id="14" name="Text 12"/>
          <p:cNvSpPr/>
          <p:nvPr/>
        </p:nvSpPr>
        <p:spPr>
          <a:xfrm>
            <a:off x="5029200" y="4632960"/>
            <a:ext cx="6446520" cy="1097280"/>
          </a:xfrm>
          <a:prstGeom prst="rect">
            <a:avLst/>
          </a:prstGeom>
          <a:noFill/>
          <a:ln/>
        </p:spPr>
        <p:txBody>
          <a:bodyPr wrap="square" lIns="0" tIns="0" rIns="0" bIns="0" rtlCol="0" anchor="t"/>
          <a:lstStyle/>
          <a:p>
            <a:pPr indent="0" marL="0">
              <a:lnSpc>
                <a:spcPts val="1900"/>
              </a:lnSpc>
              <a:buNone/>
            </a:pPr>
            <a:r>
              <a:rPr lang="en-US" sz="1350" dirty="0">
                <a:solidFill>
                  <a:srgbClr val="9FB0C4"/>
                </a:solidFill>
                <a:latin typeface="Arial" pitchFamily="34" charset="0"/>
                <a:ea typeface="Arial" pitchFamily="34" charset="-122"/>
                <a:cs typeface="Arial" pitchFamily="34" charset="-120"/>
              </a:rPr>
              <a:t>Asked in March about last year's seat. The tracker recorded intent, not what was actually laid.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D2B"/>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FDB515"/>
                </a:solidFill>
                <a:latin typeface="Arial" pitchFamily="34" charset="0"/>
                <a:ea typeface="Arial" pitchFamily="34" charset="-122"/>
                <a:cs typeface="Arial" pitchFamily="34" charset="-120"/>
              </a:rPr>
              <a:t>01  WHAT SN5 COST</a:t>
            </a:r>
            <a:endParaRPr lang="en-US" sz="1050" dirty="0"/>
          </a:p>
        </p:txBody>
      </p:sp>
      <p:sp>
        <p:nvSpPr>
          <p:cNvPr id="3" name="Text 1"/>
          <p:cNvSpPr/>
          <p:nvPr/>
        </p:nvSpPr>
        <p:spPr>
          <a:xfrm>
            <a:off x="685800" y="1234440"/>
            <a:ext cx="10058400" cy="2011680"/>
          </a:xfrm>
          <a:prstGeom prst="rect">
            <a:avLst/>
          </a:prstGeom>
          <a:noFill/>
          <a:ln/>
        </p:spPr>
        <p:txBody>
          <a:bodyPr wrap="square" lIns="0" tIns="0" rIns="0" bIns="0" rtlCol="0" anchor="t"/>
          <a:lstStyle/>
          <a:p>
            <a:pPr indent="0" marL="0">
              <a:lnSpc>
                <a:spcPts val="4872"/>
              </a:lnSpc>
              <a:buNone/>
            </a:pPr>
            <a:r>
              <a:rPr lang="en-US" sz="4200" b="1" dirty="0">
                <a:solidFill>
                  <a:srgbClr val="FFFFFF"/>
                </a:solidFill>
                <a:latin typeface="Arial" pitchFamily="34" charset="0"/>
                <a:ea typeface="Arial" pitchFamily="34" charset="-122"/>
                <a:cs typeface="Arial" pitchFamily="34" charset="-120"/>
              </a:rPr>
              <a:t>10 pain points, root-caused, each mapped to a standard that fixes it</a:t>
            </a:r>
            <a:endParaRPr lang="en-US" sz="4200" dirty="0"/>
          </a:p>
        </p:txBody>
      </p:sp>
      <p:sp>
        <p:nvSpPr>
          <p:cNvPr id="4" name="Text 2"/>
          <p:cNvSpPr/>
          <p:nvPr/>
        </p:nvSpPr>
        <p:spPr>
          <a:xfrm>
            <a:off x="685800" y="3154680"/>
            <a:ext cx="7863840" cy="2560320"/>
          </a:xfrm>
          <a:prstGeom prst="rect">
            <a:avLst/>
          </a:prstGeom>
          <a:noFill/>
          <a:ln/>
        </p:spPr>
        <p:txBody>
          <a:bodyPr wrap="square" lIns="0" tIns="0" rIns="0" bIns="0" rtlCol="0" anchor="t"/>
          <a:lstStyle/>
          <a:p>
            <a:pPr indent="0" marL="0">
              <a:lnSpc>
                <a:spcPts val="2300"/>
              </a:lnSpc>
              <a:spcAft>
                <a:spcPts val="1000"/>
              </a:spcAft>
              <a:buNone/>
            </a:pPr>
            <a:r>
              <a:rPr lang="en-US" sz="1550" dirty="0">
                <a:solidFill>
                  <a:srgbClr val="9FB0C4"/>
                </a:solidFill>
                <a:latin typeface="Arial" pitchFamily="34" charset="0"/>
                <a:ea typeface="Arial" pitchFamily="34" charset="-122"/>
                <a:cs typeface="Arial" pitchFamily="34" charset="-120"/>
              </a:rPr>
              <a:t>14 numbered standards, CS-000 through CS-013. CS-INDEX is the lookup.</a:t>
            </a:r>
            <a:endParaRPr lang="en-US" sz="1550" dirty="0"/>
          </a:p>
          <a:p>
            <a:pPr indent="0" marL="0">
              <a:lnSpc>
                <a:spcPts val="2300"/>
              </a:lnSpc>
              <a:spcAft>
                <a:spcPts val="1000"/>
              </a:spcAft>
              <a:buNone/>
            </a:pPr>
            <a:r>
              <a:rPr lang="en-US" sz="1550" dirty="0">
                <a:solidFill>
                  <a:srgbClr val="9FB0C4"/>
                </a:solidFill>
                <a:latin typeface="Arial" pitchFamily="34" charset="0"/>
                <a:ea typeface="Arial" pitchFamily="34" charset="-122"/>
                <a:cs typeface="Arial" pitchFamily="34" charset="-120"/>
              </a:rPr>
              <a:t>tools/check_traceability.py audits that every pain point still points at a live standard.</a:t>
            </a:r>
            <a:endParaRPr lang="en-US" sz="1550" dirty="0"/>
          </a:p>
          <a:p>
            <a:pPr indent="0" marL="0">
              <a:lnSpc>
                <a:spcPts val="2300"/>
              </a:lnSpc>
              <a:spcAft>
                <a:spcPts val="1000"/>
              </a:spcAft>
              <a:buNone/>
            </a:pPr>
            <a:r>
              <a:rPr lang="en-US" sz="1550" dirty="0">
                <a:solidFill>
                  <a:srgbClr val="9FB0C4"/>
                </a:solidFill>
                <a:latin typeface="Arial" pitchFamily="34" charset="0"/>
                <a:ea typeface="Arial" pitchFamily="34" charset="-122"/>
                <a:cs typeface="Arial" pitchFamily="34" charset="-120"/>
              </a:rPr>
              <a:t>Each one lands in the app as a step on a work order.</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061058" y="0"/>
            <a:ext cx="8039405" cy="4983480"/>
          </a:xfrm>
          <a:prstGeom prst="rect">
            <a:avLst/>
          </a:prstGeom>
          <a:solidFill>
            <a:srgbClr val="EEF1F6"/>
          </a:solidFill>
          <a:ln/>
        </p:spPr>
      </p:sp>
      <p:pic>
        <p:nvPicPr>
          <p:cNvPr id="3" name="Image 0" descr="/home/user/feb-composites-applications/06 Pitch/.img/05-dashboard-0.000-0.5-0.jpg">    </p:cNvPr>
          <p:cNvPicPr>
            <a:picLocks noChangeAspect="1"/>
          </p:cNvPicPr>
          <p:nvPr/>
        </p:nvPicPr>
        <p:blipFill>
          <a:blip r:embed="rId1"/>
          <a:stretch>
            <a:fillRect/>
          </a:stretch>
        </p:blipFill>
        <p:spPr>
          <a:xfrm>
            <a:off x="2408530" y="45720"/>
            <a:ext cx="7344461" cy="4590288"/>
          </a:xfrm>
          <a:prstGeom prst="rect">
            <a:avLst/>
          </a:prstGeom>
          <a:effectLst>
            <a:outerShdw sx="100000" sy="100000" kx="0" ky="0" algn="bl" rotWithShape="0" blurRad="177800" dist="25400" dir="5400000">
              <a:srgbClr val="0a1628">
                <a:alpha val="18000"/>
              </a:srgbClr>
            </a:outerShdw>
          </a:effectLst>
        </p:spPr>
      </p:pic>
      <p:sp>
        <p:nvSpPr>
          <p:cNvPr id="4" name="Shape 1"/>
          <p:cNvSpPr/>
          <p:nvPr/>
        </p:nvSpPr>
        <p:spPr>
          <a:xfrm>
            <a:off x="0" y="4983480"/>
            <a:ext cx="12161520" cy="1874520"/>
          </a:xfrm>
          <a:prstGeom prst="rect">
            <a:avLst/>
          </a:prstGeom>
          <a:solidFill>
            <a:srgbClr val="141D2B"/>
          </a:solidFill>
          <a:ln/>
        </p:spPr>
      </p:sp>
      <p:sp>
        <p:nvSpPr>
          <p:cNvPr id="5" name="Text 2"/>
          <p:cNvSpPr/>
          <p:nvPr/>
        </p:nvSpPr>
        <p:spPr>
          <a:xfrm>
            <a:off x="685800" y="5304409"/>
            <a:ext cx="5486400" cy="219456"/>
          </a:xfrm>
          <a:prstGeom prst="rect">
            <a:avLst/>
          </a:prstGeom>
          <a:noFill/>
          <a:ln/>
        </p:spPr>
        <p:txBody>
          <a:bodyPr wrap="square" lIns="0" tIns="0" rIns="0" bIns="0" rtlCol="0" anchor="ctr"/>
          <a:lstStyle/>
          <a:p>
            <a:pPr indent="0" marL="0">
              <a:buNone/>
            </a:pPr>
            <a:r>
              <a:rPr lang="en-US" sz="1000" b="1" spc="220" kern="0" dirty="0">
                <a:solidFill>
                  <a:srgbClr val="FDB515"/>
                </a:solidFill>
                <a:latin typeface="Arial" pitchFamily="34" charset="0"/>
                <a:ea typeface="Arial" pitchFamily="34" charset="-122"/>
                <a:cs typeface="Arial" pitchFamily="34" charset="-120"/>
              </a:rPr>
              <a:t>02  WHAT IT IS</a:t>
            </a:r>
            <a:endParaRPr lang="en-US" sz="1000" dirty="0"/>
          </a:p>
        </p:txBody>
      </p:sp>
      <p:sp>
        <p:nvSpPr>
          <p:cNvPr id="6" name="Text 3"/>
          <p:cNvSpPr/>
          <p:nvPr/>
        </p:nvSpPr>
        <p:spPr>
          <a:xfrm>
            <a:off x="685800" y="5560441"/>
            <a:ext cx="10789920" cy="464566"/>
          </a:xfrm>
          <a:prstGeom prst="rect">
            <a:avLst/>
          </a:prstGeom>
          <a:noFill/>
          <a:ln/>
        </p:spPr>
        <p:txBody>
          <a:bodyPr wrap="square" lIns="0" tIns="0" rIns="0" bIns="0" rtlCol="0" anchor="t"/>
          <a:lstStyle/>
          <a:p>
            <a:pPr indent="0" marL="0">
              <a:lnSpc>
                <a:spcPts val="2938"/>
              </a:lnSpc>
              <a:buNone/>
            </a:pPr>
            <a:r>
              <a:rPr lang="en-US" sz="2600" b="1" dirty="0">
                <a:solidFill>
                  <a:srgbClr val="FFFFFF"/>
                </a:solidFill>
                <a:latin typeface="Arial" pitchFamily="34" charset="0"/>
                <a:ea typeface="Arial" pitchFamily="34" charset="-122"/>
                <a:cs typeface="Arial" pitchFamily="34" charset="-120"/>
              </a:rPr>
              <a:t>One shared workspace, live for everyone at once</a:t>
            </a:r>
            <a:endParaRPr lang="en-US" sz="2600" dirty="0"/>
          </a:p>
        </p:txBody>
      </p:sp>
      <p:sp>
        <p:nvSpPr>
          <p:cNvPr id="7" name="Text 4"/>
          <p:cNvSpPr/>
          <p:nvPr/>
        </p:nvSpPr>
        <p:spPr>
          <a:xfrm>
            <a:off x="685800" y="6025007"/>
            <a:ext cx="10789920" cy="640080"/>
          </a:xfrm>
          <a:prstGeom prst="rect">
            <a:avLst/>
          </a:prstGeom>
          <a:noFill/>
          <a:ln/>
        </p:spPr>
        <p:txBody>
          <a:bodyPr wrap="square" lIns="0" tIns="0" rIns="0" bIns="0" rtlCol="0" anchor="t"/>
          <a:lstStyle/>
          <a:p>
            <a:pPr indent="0" marL="0">
              <a:lnSpc>
                <a:spcPts val="1800"/>
              </a:lnSpc>
              <a:buNone/>
            </a:pPr>
            <a:r>
              <a:rPr lang="en-US" sz="1250" dirty="0">
                <a:solidFill>
                  <a:srgbClr val="9FB0C4"/>
                </a:solidFill>
                <a:latin typeface="Arial" pitchFamily="34" charset="0"/>
                <a:ea typeface="Arial" pitchFamily="34" charset="-122"/>
                <a:cs typeface="Arial" pitchFamily="34" charset="-120"/>
              </a:rPr>
              <a:t>Free to run: Firebase Blaze with a $1–5 billing cap as the backstop.</a:t>
            </a:r>
            <a:endParaRPr lang="en-US" sz="1250" dirty="0"/>
          </a:p>
          <a:p>
            <a:pPr indent="0" marL="0">
              <a:lnSpc>
                <a:spcPts val="1800"/>
              </a:lnSpc>
              <a:buNone/>
            </a:pPr>
            <a:r>
              <a:rPr lang="en-US" sz="1250" dirty="0">
                <a:solidFill>
                  <a:srgbClr val="9FB0C4"/>
                </a:solidFill>
                <a:latin typeface="Arial" pitchFamily="34" charset="0"/>
                <a:ea typeface="Arial" pitchFamily="34" charset="-122"/>
                <a:cs typeface="Arial" pitchFamily="34" charset="-120"/>
              </a:rPr>
              <a:t>Figures on these screens are seeded demo data, not real spend.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02  WHAT IT IS</a:t>
            </a:r>
            <a:endParaRPr lang="en-US" sz="1050" dirty="0"/>
          </a:p>
        </p:txBody>
      </p:sp>
      <p:sp>
        <p:nvSpPr>
          <p:cNvPr id="3" name="Text 1"/>
          <p:cNvSpPr/>
          <p:nvPr/>
        </p:nvSpPr>
        <p:spPr>
          <a:xfrm>
            <a:off x="685800" y="822960"/>
            <a:ext cx="10789920" cy="97840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An account gets you nothing until a lead adds your email</a:t>
            </a:r>
            <a:endParaRPr lang="en-US" sz="3000" dirty="0"/>
          </a:p>
        </p:txBody>
      </p:sp>
      <p:pic>
        <p:nvPicPr>
          <p:cNvPr id="4" name="Image 0" descr="/home/user/feb-composites-applications/06 Pitch/.img/06-people-0.000-0.5-0.jpg">    </p:cNvPr>
          <p:cNvPicPr>
            <a:picLocks noChangeAspect="1"/>
          </p:cNvPicPr>
          <p:nvPr/>
        </p:nvPicPr>
        <p:blipFill>
          <a:blip r:embed="rId1"/>
          <a:stretch>
            <a:fillRect/>
          </a:stretch>
        </p:blipFill>
        <p:spPr>
          <a:xfrm>
            <a:off x="4160520" y="2969419"/>
            <a:ext cx="7543800" cy="3431381"/>
          </a:xfrm>
          <a:prstGeom prst="rect">
            <a:avLst/>
          </a:prstGeom>
        </p:spPr>
      </p:pic>
      <p:sp>
        <p:nvSpPr>
          <p:cNvPr id="5" name="Shape 2"/>
          <p:cNvSpPr/>
          <p:nvPr/>
        </p:nvSpPr>
        <p:spPr>
          <a:xfrm>
            <a:off x="4160520" y="2969419"/>
            <a:ext cx="10973" cy="3431381"/>
          </a:xfrm>
          <a:prstGeom prst="rect">
            <a:avLst/>
          </a:prstGeom>
          <a:solidFill>
            <a:srgbClr val="DDE3EC"/>
          </a:solidFill>
          <a:ln/>
        </p:spPr>
      </p:sp>
      <p:sp>
        <p:nvSpPr>
          <p:cNvPr id="6" name="Text 3"/>
          <p:cNvSpPr/>
          <p:nvPr/>
        </p:nvSpPr>
        <p:spPr>
          <a:xfrm>
            <a:off x="685800" y="2148840"/>
            <a:ext cx="3063240" cy="425196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Enforced in firestore.rules, server-side — not by hiding buttons.</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Roster self-edits are limited to name and avatar, so nobody can promote themselves to lead.</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A member does the day-to-day work. A lead can also delete, restore from backup, and manage the roster.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02  WHAT IT IS</a:t>
            </a:r>
            <a:endParaRPr lang="en-US" sz="1050" dirty="0"/>
          </a:p>
        </p:txBody>
      </p:sp>
      <p:sp>
        <p:nvSpPr>
          <p:cNvPr id="3" name="Text 1"/>
          <p:cNvSpPr/>
          <p:nvPr/>
        </p:nvSpPr>
        <p:spPr>
          <a:xfrm>
            <a:off x="685800" y="1051560"/>
            <a:ext cx="6309360" cy="2103120"/>
          </a:xfrm>
          <a:prstGeom prst="rect">
            <a:avLst/>
          </a:prstGeom>
          <a:noFill/>
          <a:ln/>
        </p:spPr>
        <p:txBody>
          <a:bodyPr wrap="square" lIns="0" tIns="0" rIns="0" bIns="0" rtlCol="0" anchor="t"/>
          <a:lstStyle/>
          <a:p>
            <a:pPr indent="0" marL="0">
              <a:lnSpc>
                <a:spcPts val="4560"/>
              </a:lnSpc>
              <a:buNone/>
            </a:pPr>
            <a:r>
              <a:rPr lang="en-US" sz="4000" b="1" dirty="0">
                <a:solidFill>
                  <a:srgbClr val="141D2B"/>
                </a:solidFill>
                <a:latin typeface="Arial" pitchFamily="34" charset="0"/>
                <a:ea typeface="Arial" pitchFamily="34" charset="-122"/>
                <a:cs typeface="Arial" pitchFamily="34" charset="-120"/>
              </a:rPr>
              <a:t>Eleven tabs. The rest of this is four of them.</a:t>
            </a:r>
            <a:endParaRPr lang="en-US" sz="4000" dirty="0"/>
          </a:p>
        </p:txBody>
      </p:sp>
      <p:sp>
        <p:nvSpPr>
          <p:cNvPr id="4" name="Text 2"/>
          <p:cNvSpPr/>
          <p:nvPr/>
        </p:nvSpPr>
        <p:spPr>
          <a:xfrm>
            <a:off x="685800" y="3383280"/>
            <a:ext cx="5852160" cy="822960"/>
          </a:xfrm>
          <a:prstGeom prst="rect">
            <a:avLst/>
          </a:prstGeom>
          <a:noFill/>
          <a:ln/>
        </p:spPr>
        <p:txBody>
          <a:bodyPr wrap="square" lIns="0" tIns="0" rIns="0" bIns="0" rtlCol="0" anchor="t"/>
          <a:lstStyle/>
          <a:p>
            <a:pPr indent="0" marL="0">
              <a:lnSpc>
                <a:spcPts val="2100"/>
              </a:lnSpc>
              <a:buNone/>
            </a:pPr>
            <a:r>
              <a:rPr lang="en-US" sz="1400" dirty="0">
                <a:solidFill>
                  <a:srgbClr val="515F74"/>
                </a:solidFill>
                <a:latin typeface="Arial" pitchFamily="34" charset="0"/>
                <a:ea typeface="Arial" pitchFamily="34" charset="-122"/>
                <a:cs typeface="Arial" pitchFamily="34" charset="-120"/>
              </a:rPr>
              <a:t>Cross-links everywhere — click a chip to jump to the related record. ⌘K for global search.</a:t>
            </a:r>
            <a:endParaRPr lang="en-US" sz="1400" dirty="0"/>
          </a:p>
        </p:txBody>
      </p:sp>
      <p:sp>
        <p:nvSpPr>
          <p:cNvPr id="5" name="Text 3"/>
          <p:cNvSpPr/>
          <p:nvPr/>
        </p:nvSpPr>
        <p:spPr>
          <a:xfrm>
            <a:off x="7616952" y="914400"/>
            <a:ext cx="457200" cy="530352"/>
          </a:xfrm>
          <a:prstGeom prst="rect">
            <a:avLst/>
          </a:prstGeom>
          <a:noFill/>
          <a:ln/>
        </p:spPr>
        <p:txBody>
          <a:bodyPr wrap="square" lIns="0" tIns="0" rIns="0" bIns="0" rtlCol="0" anchor="ctr"/>
          <a:lstStyle/>
          <a:p>
            <a:pPr indent="0" marL="0">
              <a:buNone/>
            </a:pPr>
            <a:r>
              <a:rPr lang="en-US" sz="1500" b="1" dirty="0">
                <a:solidFill>
                  <a:srgbClr val="FDB515"/>
                </a:solidFill>
                <a:latin typeface="Arial" pitchFamily="34" charset="0"/>
                <a:ea typeface="Arial" pitchFamily="34" charset="-122"/>
                <a:cs typeface="Arial" pitchFamily="34" charset="-120"/>
              </a:rPr>
              <a:t>→</a:t>
            </a:r>
            <a:endParaRPr lang="en-US" sz="1500" dirty="0"/>
          </a:p>
        </p:txBody>
      </p:sp>
      <p:sp>
        <p:nvSpPr>
          <p:cNvPr id="6" name="Text 4"/>
          <p:cNvSpPr/>
          <p:nvPr/>
        </p:nvSpPr>
        <p:spPr>
          <a:xfrm>
            <a:off x="8092440" y="914400"/>
            <a:ext cx="3657600" cy="530352"/>
          </a:xfrm>
          <a:prstGeom prst="rect">
            <a:avLst/>
          </a:prstGeom>
          <a:noFill/>
          <a:ln/>
        </p:spPr>
        <p:txBody>
          <a:bodyPr wrap="square" lIns="0" tIns="0" rIns="0" bIns="0" rtlCol="0" anchor="ctr"/>
          <a:lstStyle/>
          <a:p>
            <a:pPr indent="0" marL="0">
              <a:buNone/>
            </a:pPr>
            <a:r>
              <a:rPr lang="en-US" sz="2500" b="1" dirty="0">
                <a:solidFill>
                  <a:srgbClr val="141D2B"/>
                </a:solidFill>
                <a:latin typeface="Arial" pitchFamily="34" charset="0"/>
                <a:ea typeface="Arial" pitchFamily="34" charset="-122"/>
                <a:cs typeface="Arial" pitchFamily="34" charset="-120"/>
              </a:rPr>
              <a:t>Work Orders</a:t>
            </a:r>
            <a:endParaRPr lang="en-US" sz="2500" dirty="0"/>
          </a:p>
        </p:txBody>
      </p:sp>
      <p:sp>
        <p:nvSpPr>
          <p:cNvPr id="7" name="Text 5"/>
          <p:cNvSpPr/>
          <p:nvPr/>
        </p:nvSpPr>
        <p:spPr>
          <a:xfrm>
            <a:off x="7616952" y="1536192"/>
            <a:ext cx="457200" cy="530352"/>
          </a:xfrm>
          <a:prstGeom prst="rect">
            <a:avLst/>
          </a:prstGeom>
          <a:noFill/>
          <a:ln/>
        </p:spPr>
        <p:txBody>
          <a:bodyPr wrap="square" lIns="0" tIns="0" rIns="0" bIns="0" rtlCol="0" anchor="ctr"/>
          <a:lstStyle/>
          <a:p>
            <a:pPr indent="0" marL="0">
              <a:buNone/>
            </a:pPr>
            <a:r>
              <a:rPr lang="en-US" sz="1500" b="1" dirty="0">
                <a:solidFill>
                  <a:srgbClr val="FDB515"/>
                </a:solidFill>
                <a:latin typeface="Arial" pitchFamily="34" charset="0"/>
                <a:ea typeface="Arial" pitchFamily="34" charset="-122"/>
                <a:cs typeface="Arial" pitchFamily="34" charset="-120"/>
              </a:rPr>
              <a:t>→</a:t>
            </a:r>
            <a:endParaRPr lang="en-US" sz="1500" dirty="0"/>
          </a:p>
        </p:txBody>
      </p:sp>
      <p:sp>
        <p:nvSpPr>
          <p:cNvPr id="8" name="Text 6"/>
          <p:cNvSpPr/>
          <p:nvPr/>
        </p:nvSpPr>
        <p:spPr>
          <a:xfrm>
            <a:off x="8092440" y="1536192"/>
            <a:ext cx="3657600" cy="530352"/>
          </a:xfrm>
          <a:prstGeom prst="rect">
            <a:avLst/>
          </a:prstGeom>
          <a:noFill/>
          <a:ln/>
        </p:spPr>
        <p:txBody>
          <a:bodyPr wrap="square" lIns="0" tIns="0" rIns="0" bIns="0" rtlCol="0" anchor="ctr"/>
          <a:lstStyle/>
          <a:p>
            <a:pPr indent="0" marL="0">
              <a:buNone/>
            </a:pPr>
            <a:r>
              <a:rPr lang="en-US" sz="2500" b="1" dirty="0">
                <a:solidFill>
                  <a:srgbClr val="141D2B"/>
                </a:solidFill>
                <a:latin typeface="Arial" pitchFamily="34" charset="0"/>
                <a:ea typeface="Arial" pitchFamily="34" charset="-122"/>
                <a:cs typeface="Arial" pitchFamily="34" charset="-120"/>
              </a:rPr>
              <a:t>Parts</a:t>
            </a:r>
            <a:endParaRPr lang="en-US" sz="2500" dirty="0"/>
          </a:p>
        </p:txBody>
      </p:sp>
      <p:sp>
        <p:nvSpPr>
          <p:cNvPr id="9" name="Text 7"/>
          <p:cNvSpPr/>
          <p:nvPr/>
        </p:nvSpPr>
        <p:spPr>
          <a:xfrm>
            <a:off x="7616952" y="2157984"/>
            <a:ext cx="457200" cy="530352"/>
          </a:xfrm>
          <a:prstGeom prst="rect">
            <a:avLst/>
          </a:prstGeom>
          <a:noFill/>
          <a:ln/>
        </p:spPr>
        <p:txBody>
          <a:bodyPr wrap="square" lIns="0" tIns="0" rIns="0" bIns="0" rtlCol="0" anchor="ctr"/>
          <a:lstStyle/>
          <a:p>
            <a:pPr indent="0" marL="0">
              <a:buNone/>
            </a:pPr>
            <a:r>
              <a:rPr lang="en-US" sz="1500" b="1" dirty="0">
                <a:solidFill>
                  <a:srgbClr val="FDB515"/>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8092440" y="2157984"/>
            <a:ext cx="3657600" cy="530352"/>
          </a:xfrm>
          <a:prstGeom prst="rect">
            <a:avLst/>
          </a:prstGeom>
          <a:noFill/>
          <a:ln/>
        </p:spPr>
        <p:txBody>
          <a:bodyPr wrap="square" lIns="0" tIns="0" rIns="0" bIns="0" rtlCol="0" anchor="ctr"/>
          <a:lstStyle/>
          <a:p>
            <a:pPr indent="0" marL="0">
              <a:buNone/>
            </a:pPr>
            <a:r>
              <a:rPr lang="en-US" sz="2500" b="1" dirty="0">
                <a:solidFill>
                  <a:srgbClr val="141D2B"/>
                </a:solidFill>
                <a:latin typeface="Arial" pitchFamily="34" charset="0"/>
                <a:ea typeface="Arial" pitchFamily="34" charset="-122"/>
                <a:cs typeface="Arial" pitchFamily="34" charset="-120"/>
              </a:rPr>
              <a:t>Stock</a:t>
            </a:r>
            <a:endParaRPr lang="en-US" sz="2500" dirty="0"/>
          </a:p>
        </p:txBody>
      </p:sp>
      <p:sp>
        <p:nvSpPr>
          <p:cNvPr id="11" name="Text 9"/>
          <p:cNvSpPr/>
          <p:nvPr/>
        </p:nvSpPr>
        <p:spPr>
          <a:xfrm>
            <a:off x="7616952" y="2779776"/>
            <a:ext cx="457200" cy="530352"/>
          </a:xfrm>
          <a:prstGeom prst="rect">
            <a:avLst/>
          </a:prstGeom>
          <a:noFill/>
          <a:ln/>
        </p:spPr>
        <p:txBody>
          <a:bodyPr wrap="square" lIns="0" tIns="0" rIns="0" bIns="0" rtlCol="0" anchor="ctr"/>
          <a:lstStyle/>
          <a:p>
            <a:pPr indent="0" marL="0">
              <a:buNone/>
            </a:pPr>
            <a:r>
              <a:rPr lang="en-US" sz="1500" b="1" dirty="0">
                <a:solidFill>
                  <a:srgbClr val="FDB515"/>
                </a:solidFill>
                <a:latin typeface="Arial" pitchFamily="34" charset="0"/>
                <a:ea typeface="Arial" pitchFamily="34" charset="-122"/>
                <a:cs typeface="Arial" pitchFamily="34" charset="-120"/>
              </a:rPr>
              <a:t>→</a:t>
            </a:r>
            <a:endParaRPr lang="en-US" sz="1500" dirty="0"/>
          </a:p>
        </p:txBody>
      </p:sp>
      <p:sp>
        <p:nvSpPr>
          <p:cNvPr id="12" name="Text 10"/>
          <p:cNvSpPr/>
          <p:nvPr/>
        </p:nvSpPr>
        <p:spPr>
          <a:xfrm>
            <a:off x="8092440" y="2779776"/>
            <a:ext cx="3657600" cy="530352"/>
          </a:xfrm>
          <a:prstGeom prst="rect">
            <a:avLst/>
          </a:prstGeom>
          <a:noFill/>
          <a:ln/>
        </p:spPr>
        <p:txBody>
          <a:bodyPr wrap="square" lIns="0" tIns="0" rIns="0" bIns="0" rtlCol="0" anchor="ctr"/>
          <a:lstStyle/>
          <a:p>
            <a:pPr indent="0" marL="0">
              <a:buNone/>
            </a:pPr>
            <a:r>
              <a:rPr lang="en-US" sz="2500" b="1" dirty="0">
                <a:solidFill>
                  <a:srgbClr val="141D2B"/>
                </a:solidFill>
                <a:latin typeface="Arial" pitchFamily="34" charset="0"/>
                <a:ea typeface="Arial" pitchFamily="34" charset="-122"/>
                <a:cs typeface="Arial" pitchFamily="34" charset="-120"/>
              </a:rPr>
              <a:t>Budget</a:t>
            </a:r>
            <a:endParaRPr lang="en-US" sz="2500" dirty="0"/>
          </a:p>
        </p:txBody>
      </p:sp>
      <p:sp>
        <p:nvSpPr>
          <p:cNvPr id="13" name="Text 11"/>
          <p:cNvSpPr/>
          <p:nvPr/>
        </p:nvSpPr>
        <p:spPr>
          <a:xfrm>
            <a:off x="8092440" y="3401568"/>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Dashboard</a:t>
            </a:r>
            <a:endParaRPr lang="en-US" sz="1500" dirty="0"/>
          </a:p>
        </p:txBody>
      </p:sp>
      <p:sp>
        <p:nvSpPr>
          <p:cNvPr id="14" name="Text 12"/>
          <p:cNvSpPr/>
          <p:nvPr/>
        </p:nvSpPr>
        <p:spPr>
          <a:xfrm>
            <a:off x="8092440" y="3794760"/>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Tickets</a:t>
            </a:r>
            <a:endParaRPr lang="en-US" sz="1500" dirty="0"/>
          </a:p>
        </p:txBody>
      </p:sp>
      <p:sp>
        <p:nvSpPr>
          <p:cNvPr id="15" name="Text 13"/>
          <p:cNvSpPr/>
          <p:nvPr/>
        </p:nvSpPr>
        <p:spPr>
          <a:xfrm>
            <a:off x="8092440" y="4187952"/>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Timeline</a:t>
            </a:r>
            <a:endParaRPr lang="en-US" sz="1500" dirty="0"/>
          </a:p>
        </p:txBody>
      </p:sp>
      <p:sp>
        <p:nvSpPr>
          <p:cNvPr id="16" name="Text 14"/>
          <p:cNvSpPr/>
          <p:nvPr/>
        </p:nvSpPr>
        <p:spPr>
          <a:xfrm>
            <a:off x="8092440" y="4581144"/>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Weekly Plan</a:t>
            </a:r>
            <a:endParaRPr lang="en-US" sz="1500" dirty="0"/>
          </a:p>
        </p:txBody>
      </p:sp>
      <p:sp>
        <p:nvSpPr>
          <p:cNvPr id="17" name="Text 15"/>
          <p:cNvSpPr/>
          <p:nvPr/>
        </p:nvSpPr>
        <p:spPr>
          <a:xfrm>
            <a:off x="8092440" y="4974336"/>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Documents</a:t>
            </a:r>
            <a:endParaRPr lang="en-US" sz="1500" dirty="0"/>
          </a:p>
        </p:txBody>
      </p:sp>
      <p:sp>
        <p:nvSpPr>
          <p:cNvPr id="18" name="Text 16"/>
          <p:cNvSpPr/>
          <p:nvPr/>
        </p:nvSpPr>
        <p:spPr>
          <a:xfrm>
            <a:off x="8092440" y="5367528"/>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Reports</a:t>
            </a:r>
            <a:endParaRPr lang="en-US" sz="1500" dirty="0"/>
          </a:p>
        </p:txBody>
      </p:sp>
      <p:sp>
        <p:nvSpPr>
          <p:cNvPr id="19" name="Text 17"/>
          <p:cNvSpPr/>
          <p:nvPr/>
        </p:nvSpPr>
        <p:spPr>
          <a:xfrm>
            <a:off x="8092440" y="5760720"/>
            <a:ext cx="3657600" cy="347472"/>
          </a:xfrm>
          <a:prstGeom prst="rect">
            <a:avLst/>
          </a:prstGeom>
          <a:noFill/>
          <a:ln/>
        </p:spPr>
        <p:txBody>
          <a:bodyPr wrap="square" lIns="0" tIns="0" rIns="0" bIns="0" rtlCol="0" anchor="ctr"/>
          <a:lstStyle/>
          <a:p>
            <a:pPr indent="0" marL="0">
              <a:buNone/>
            </a:pPr>
            <a:r>
              <a:rPr lang="en-US" sz="1500" spc="30" kern="0" dirty="0">
                <a:solidFill>
                  <a:srgbClr val="515F74"/>
                </a:solidFill>
                <a:latin typeface="Arial" pitchFamily="34" charset="0"/>
                <a:ea typeface="Arial" pitchFamily="34" charset="-122"/>
                <a:cs typeface="Arial" pitchFamily="34" charset="-120"/>
              </a:rPr>
              <a:t>People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03  ONE PART, END TO END</a:t>
            </a:r>
            <a:endParaRPr lang="en-US" sz="1050" dirty="0"/>
          </a:p>
        </p:txBody>
      </p:sp>
      <p:sp>
        <p:nvSpPr>
          <p:cNvPr id="3" name="Text 1"/>
          <p:cNvSpPr/>
          <p:nvPr/>
        </p:nvSpPr>
        <p:spPr>
          <a:xfrm>
            <a:off x="685800" y="822960"/>
            <a:ext cx="10789920" cy="97840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CAD, mold and layup move independently, so the tracker shows three bars, not one percentage</a:t>
            </a:r>
            <a:endParaRPr lang="en-US" sz="3000" dirty="0"/>
          </a:p>
        </p:txBody>
      </p:sp>
      <p:pic>
        <p:nvPicPr>
          <p:cNvPr id="4" name="Image 0" descr="/home/user/feb-composites-applications/06 Pitch/.img/07-parts-0.000-0.5-0.jpg">    </p:cNvPr>
          <p:cNvPicPr>
            <a:picLocks noChangeAspect="1"/>
          </p:cNvPicPr>
          <p:nvPr/>
        </p:nvPicPr>
        <p:blipFill>
          <a:blip r:embed="rId1"/>
          <a:stretch>
            <a:fillRect/>
          </a:stretch>
        </p:blipFill>
        <p:spPr>
          <a:xfrm>
            <a:off x="4901184" y="2148840"/>
            <a:ext cx="6803136" cy="4251960"/>
          </a:xfrm>
          <a:prstGeom prst="rect">
            <a:avLst/>
          </a:prstGeom>
        </p:spPr>
      </p:pic>
      <p:sp>
        <p:nvSpPr>
          <p:cNvPr id="5" name="Shape 2"/>
          <p:cNvSpPr/>
          <p:nvPr/>
        </p:nvSpPr>
        <p:spPr>
          <a:xfrm>
            <a:off x="4901184" y="2148840"/>
            <a:ext cx="10973" cy="4251960"/>
          </a:xfrm>
          <a:prstGeom prst="rect">
            <a:avLst/>
          </a:prstGeom>
          <a:solidFill>
            <a:srgbClr val="DDE3EC"/>
          </a:solidFill>
          <a:ln/>
        </p:spPr>
      </p:sp>
      <p:sp>
        <p:nvSpPr>
          <p:cNvPr id="6" name="Text 3"/>
          <p:cNvSpPr/>
          <p:nvPr/>
        </p:nvSpPr>
        <p:spPr>
          <a:xfrm>
            <a:off x="685800" y="2148840"/>
            <a:ext cx="3803904" cy="425196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Subteam, engineers, target weight, layup deadline.</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A part's layup stack and its work order's stack stay in sync — edit either.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03  ONE PART, END TO END</a:t>
            </a:r>
            <a:endParaRPr lang="en-US" sz="1050" dirty="0"/>
          </a:p>
        </p:txBody>
      </p:sp>
      <p:sp>
        <p:nvSpPr>
          <p:cNvPr id="3" name="Text 1"/>
          <p:cNvSpPr/>
          <p:nvPr/>
        </p:nvSpPr>
        <p:spPr>
          <a:xfrm>
            <a:off x="685800" y="822960"/>
            <a:ext cx="10789920" cy="54406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A full sheet and an offcut are the same kind of record</a:t>
            </a:r>
            <a:endParaRPr lang="en-US" sz="3000" dirty="0"/>
          </a:p>
        </p:txBody>
      </p:sp>
      <p:pic>
        <p:nvPicPr>
          <p:cNvPr id="4" name="Image 0" descr="/home/user/feb-composites-applications/06 Pitch/.img/09-stock-0.000-0.5-0.jpg">    </p:cNvPr>
          <p:cNvPicPr>
            <a:picLocks noChangeAspect="1"/>
          </p:cNvPicPr>
          <p:nvPr/>
        </p:nvPicPr>
        <p:blipFill>
          <a:blip r:embed="rId1"/>
          <a:stretch>
            <a:fillRect/>
          </a:stretch>
        </p:blipFill>
        <p:spPr>
          <a:xfrm>
            <a:off x="4160520" y="2482215"/>
            <a:ext cx="7543800" cy="3918585"/>
          </a:xfrm>
          <a:prstGeom prst="rect">
            <a:avLst/>
          </a:prstGeom>
        </p:spPr>
      </p:pic>
      <p:sp>
        <p:nvSpPr>
          <p:cNvPr id="5" name="Shape 2"/>
          <p:cNvSpPr/>
          <p:nvPr/>
        </p:nvSpPr>
        <p:spPr>
          <a:xfrm>
            <a:off x="4160520" y="2482215"/>
            <a:ext cx="10973" cy="3918585"/>
          </a:xfrm>
          <a:prstGeom prst="rect">
            <a:avLst/>
          </a:prstGeom>
          <a:solidFill>
            <a:srgbClr val="DDE3EC"/>
          </a:solidFill>
          <a:ln/>
        </p:spPr>
      </p:sp>
      <p:sp>
        <p:nvSpPr>
          <p:cNvPr id="6" name="Text 3"/>
          <p:cNvSpPr/>
          <p:nvPr/>
        </p:nvSpPr>
        <p:spPr>
          <a:xfrm>
            <a:off x="685800" y="1714500"/>
            <a:ext cx="3063240" cy="468630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So remnants come back into stock instead of piling up under the bench.</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The planner picks thicknesses from what is actually on the rack — there is no point offering a stack we don't own.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03  ONE PART, END TO END</a:t>
            </a:r>
            <a:endParaRPr lang="en-US" sz="1050" dirty="0"/>
          </a:p>
        </p:txBody>
      </p:sp>
      <p:pic>
        <p:nvPicPr>
          <p:cNvPr id="3" name="Image 0" descr="/home/user/feb-composites-applications/06 Pitch/.img/10-body-picker-0.000-0.5-0.jpg">    </p:cNvPr>
          <p:cNvPicPr>
            <a:picLocks noChangeAspect="1"/>
          </p:cNvPicPr>
          <p:nvPr/>
        </p:nvPicPr>
        <p:blipFill>
          <a:blip r:embed="rId1"/>
          <a:stretch>
            <a:fillRect/>
          </a:stretch>
        </p:blipFill>
        <p:spPr>
          <a:xfrm>
            <a:off x="6587711" y="502920"/>
            <a:ext cx="5070889" cy="5852160"/>
          </a:xfrm>
          <a:prstGeom prst="rect">
            <a:avLst/>
          </a:prstGeom>
          <a:effectLst>
            <a:outerShdw sx="100000" sy="100000" kx="0" ky="0" algn="bl" rotWithShape="0" blurRad="203200" dist="38100" dir="5400000">
              <a:srgbClr val="0a1628">
                <a:alpha val="22000"/>
              </a:srgbClr>
            </a:outerShdw>
          </a:effectLst>
        </p:spPr>
      </p:pic>
      <p:sp>
        <p:nvSpPr>
          <p:cNvPr id="4" name="Text 1"/>
          <p:cNvSpPr/>
          <p:nvPr/>
        </p:nvSpPr>
        <p:spPr>
          <a:xfrm>
            <a:off x="685800" y="1371600"/>
            <a:ext cx="5353271" cy="1336548"/>
          </a:xfrm>
          <a:prstGeom prst="rect">
            <a:avLst/>
          </a:prstGeom>
          <a:noFill/>
          <a:ln/>
        </p:spPr>
        <p:txBody>
          <a:bodyPr wrap="square" lIns="0" tIns="0" rIns="0" bIns="0" rtlCol="0" anchor="t"/>
          <a:lstStyle/>
          <a:p>
            <a:pPr indent="0" marL="0">
              <a:lnSpc>
                <a:spcPts val="3220"/>
              </a:lnSpc>
              <a:buNone/>
            </a:pPr>
            <a:r>
              <a:rPr lang="en-US" sz="2800" b="1" dirty="0">
                <a:solidFill>
                  <a:srgbClr val="141D2B"/>
                </a:solidFill>
                <a:latin typeface="Arial" pitchFamily="34" charset="0"/>
                <a:ea typeface="Arial" pitchFamily="34" charset="-122"/>
                <a:cs typeface="Arial" pitchFamily="34" charset="-120"/>
              </a:rPr>
              <a:t>A real Fusion export is an assembly. It asks which body you mean.</a:t>
            </a:r>
            <a:endParaRPr lang="en-US" sz="2800" dirty="0"/>
          </a:p>
        </p:txBody>
      </p:sp>
      <p:sp>
        <p:nvSpPr>
          <p:cNvPr id="5" name="Text 2"/>
          <p:cNvSpPr/>
          <p:nvPr/>
        </p:nvSpPr>
        <p:spPr>
          <a:xfrm>
            <a:off x="685800" y="3009900"/>
            <a:ext cx="5353271" cy="2194560"/>
          </a:xfrm>
          <a:prstGeom prst="rect">
            <a:avLst/>
          </a:prstGeom>
          <a:noFill/>
          <a:ln/>
        </p:spPr>
        <p:txBody>
          <a:bodyPr wrap="square" lIns="0" tIns="0" rIns="0" bIns="0" rtlCol="0" anchor="t"/>
          <a:lstStyle/>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Rather than slicing the bounding box of everything and planning a void.</a:t>
            </a:r>
            <a:endParaRPr lang="en-US" sz="1350" dirty="0"/>
          </a:p>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Three sample molds ship with the app, so the planner works before anyone exports anything.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03  ONE PART, END TO END</a:t>
            </a:r>
            <a:endParaRPr lang="en-US" sz="1050" dirty="0"/>
          </a:p>
        </p:txBody>
      </p:sp>
      <p:pic>
        <p:nvPicPr>
          <p:cNvPr id="3" name="Image 0" descr="/home/user/feb-composites-applications/06 Pitch/.img/11-plan-0.000-0.5-0.jpg">    </p:cNvPr>
          <p:cNvPicPr>
            <a:picLocks noChangeAspect="1"/>
          </p:cNvPicPr>
          <p:nvPr/>
        </p:nvPicPr>
        <p:blipFill>
          <a:blip r:embed="rId1"/>
          <a:stretch>
            <a:fillRect/>
          </a:stretch>
        </p:blipFill>
        <p:spPr>
          <a:xfrm>
            <a:off x="6569375" y="502920"/>
            <a:ext cx="5089225" cy="5852160"/>
          </a:xfrm>
          <a:prstGeom prst="rect">
            <a:avLst/>
          </a:prstGeom>
          <a:effectLst>
            <a:outerShdw sx="100000" sy="100000" kx="0" ky="0" algn="bl" rotWithShape="0" blurRad="203200" dist="38100" dir="5400000">
              <a:srgbClr val="0a1628">
                <a:alpha val="22000"/>
              </a:srgbClr>
            </a:outerShdw>
          </a:effectLst>
        </p:spPr>
      </p:pic>
      <p:sp>
        <p:nvSpPr>
          <p:cNvPr id="4" name="Text 1"/>
          <p:cNvSpPr/>
          <p:nvPr/>
        </p:nvSpPr>
        <p:spPr>
          <a:xfrm>
            <a:off x="685800" y="1371600"/>
            <a:ext cx="5334935" cy="1336548"/>
          </a:xfrm>
          <a:prstGeom prst="rect">
            <a:avLst/>
          </a:prstGeom>
          <a:noFill/>
          <a:ln/>
        </p:spPr>
        <p:txBody>
          <a:bodyPr wrap="square" lIns="0" tIns="0" rIns="0" bIns="0" rtlCol="0" anchor="t"/>
          <a:lstStyle/>
          <a:p>
            <a:pPr indent="0" marL="0">
              <a:lnSpc>
                <a:spcPts val="3220"/>
              </a:lnSpc>
              <a:buNone/>
            </a:pPr>
            <a:r>
              <a:rPr lang="en-US" sz="2800" b="1" dirty="0">
                <a:solidFill>
                  <a:srgbClr val="141D2B"/>
                </a:solidFill>
                <a:latin typeface="Arial" pitchFamily="34" charset="0"/>
                <a:ea typeface="Arial" pitchFamily="34" charset="-122"/>
                <a:cs typeface="Arial" pitchFamily="34" charset="-120"/>
              </a:rPr>
              <a:t>Hand it a mold. It works out which boards to glue and how to saw them.</a:t>
            </a:r>
            <a:endParaRPr lang="en-US" sz="2800" dirty="0"/>
          </a:p>
        </p:txBody>
      </p:sp>
      <p:sp>
        <p:nvSpPr>
          <p:cNvPr id="5" name="Text 2"/>
          <p:cNvSpPr/>
          <p:nvPr/>
        </p:nvSpPr>
        <p:spPr>
          <a:xfrm>
            <a:off x="685800" y="3009900"/>
            <a:ext cx="5334935" cy="2194560"/>
          </a:xfrm>
          <a:prstGeom prst="rect">
            <a:avLst/>
          </a:prstGeom>
          <a:noFill/>
          <a:ln/>
        </p:spPr>
        <p:txBody>
          <a:bodyPr wrap="square" lIns="0" tIns="0" rIns="0" bIns="0" rtlCol="0" anchor="t"/>
          <a:lstStyle/>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Thicknesses chosen to waste the least board, from the rack you actually have.</a:t>
            </a:r>
            <a:endParaRPr lang="en-US" sz="1350" dirty="0"/>
          </a:p>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Tall molds split at the ShopSabre's ~6in cut depth, into one machine setup per section.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55448" y="0"/>
            <a:ext cx="11850624" cy="2739822"/>
          </a:xfrm>
          <a:prstGeom prst="rect">
            <a:avLst/>
          </a:prstGeom>
          <a:solidFill>
            <a:srgbClr val="EEF1F6"/>
          </a:solidFill>
          <a:ln/>
        </p:spPr>
      </p:sp>
      <p:pic>
        <p:nvPicPr>
          <p:cNvPr id="3" name="Image 0" descr="/home/user/feb-composites-applications/06 Pitch/.img/11b-cutlist-0.000-0.5-0.jpg">    </p:cNvPr>
          <p:cNvPicPr>
            <a:picLocks noChangeAspect="1"/>
          </p:cNvPicPr>
          <p:nvPr/>
        </p:nvPicPr>
        <p:blipFill>
          <a:blip r:embed="rId1"/>
          <a:stretch>
            <a:fillRect/>
          </a:stretch>
        </p:blipFill>
        <p:spPr>
          <a:xfrm>
            <a:off x="502920" y="502920"/>
            <a:ext cx="11155680" cy="1889430"/>
          </a:xfrm>
          <a:prstGeom prst="rect">
            <a:avLst/>
          </a:prstGeom>
          <a:effectLst>
            <a:outerShdw sx="100000" sy="100000" kx="0" ky="0" algn="bl" rotWithShape="0" blurRad="177800" dist="25400" dir="5400000">
              <a:srgbClr val="0a1628">
                <a:alpha val="18000"/>
              </a:srgbClr>
            </a:outerShdw>
          </a:effectLst>
        </p:spPr>
      </p:pic>
      <p:sp>
        <p:nvSpPr>
          <p:cNvPr id="4" name="Shape 1"/>
          <p:cNvSpPr/>
          <p:nvPr/>
        </p:nvSpPr>
        <p:spPr>
          <a:xfrm>
            <a:off x="0" y="2739822"/>
            <a:ext cx="12161520" cy="4118178"/>
          </a:xfrm>
          <a:prstGeom prst="rect">
            <a:avLst/>
          </a:prstGeom>
          <a:solidFill>
            <a:srgbClr val="141D2B"/>
          </a:solidFill>
          <a:ln/>
        </p:spPr>
      </p:sp>
      <p:sp>
        <p:nvSpPr>
          <p:cNvPr id="5" name="Text 2"/>
          <p:cNvSpPr/>
          <p:nvPr/>
        </p:nvSpPr>
        <p:spPr>
          <a:xfrm>
            <a:off x="685800" y="4182580"/>
            <a:ext cx="5486400" cy="219456"/>
          </a:xfrm>
          <a:prstGeom prst="rect">
            <a:avLst/>
          </a:prstGeom>
          <a:noFill/>
          <a:ln/>
        </p:spPr>
        <p:txBody>
          <a:bodyPr wrap="square" lIns="0" tIns="0" rIns="0" bIns="0" rtlCol="0" anchor="ctr"/>
          <a:lstStyle/>
          <a:p>
            <a:pPr indent="0" marL="0">
              <a:buNone/>
            </a:pPr>
            <a:r>
              <a:rPr lang="en-US" sz="1000" b="1" spc="220" kern="0" dirty="0">
                <a:solidFill>
                  <a:srgbClr val="FDB515"/>
                </a:solidFill>
                <a:latin typeface="Arial" pitchFamily="34" charset="0"/>
                <a:ea typeface="Arial" pitchFamily="34" charset="-122"/>
                <a:cs typeface="Arial" pitchFamily="34" charset="-120"/>
              </a:rPr>
              <a:t>03  ONE PART, END TO END</a:t>
            </a:r>
            <a:endParaRPr lang="en-US" sz="1000" dirty="0"/>
          </a:p>
        </p:txBody>
      </p:sp>
      <p:sp>
        <p:nvSpPr>
          <p:cNvPr id="6" name="Text 3"/>
          <p:cNvSpPr/>
          <p:nvPr/>
        </p:nvSpPr>
        <p:spPr>
          <a:xfrm>
            <a:off x="685800" y="4438612"/>
            <a:ext cx="10789920" cy="464566"/>
          </a:xfrm>
          <a:prstGeom prst="rect">
            <a:avLst/>
          </a:prstGeom>
          <a:noFill/>
          <a:ln/>
        </p:spPr>
        <p:txBody>
          <a:bodyPr wrap="square" lIns="0" tIns="0" rIns="0" bIns="0" rtlCol="0" anchor="t"/>
          <a:lstStyle/>
          <a:p>
            <a:pPr indent="0" marL="0">
              <a:lnSpc>
                <a:spcPts val="2938"/>
              </a:lnSpc>
              <a:buNone/>
            </a:pPr>
            <a:r>
              <a:rPr lang="en-US" sz="2600" b="1" dirty="0">
                <a:solidFill>
                  <a:srgbClr val="FFFFFF"/>
                </a:solidFill>
                <a:latin typeface="Arial" pitchFamily="34" charset="0"/>
                <a:ea typeface="Arial" pitchFamily="34" charset="-122"/>
                <a:cs typeface="Arial" pitchFamily="34" charset="-120"/>
              </a:rPr>
              <a:t>The blocks come back out as CAM stock</a:t>
            </a:r>
            <a:endParaRPr lang="en-US" sz="2600" dirty="0"/>
          </a:p>
        </p:txBody>
      </p:sp>
      <p:sp>
        <p:nvSpPr>
          <p:cNvPr id="7" name="Text 4"/>
          <p:cNvSpPr/>
          <p:nvPr/>
        </p:nvSpPr>
        <p:spPr>
          <a:xfrm>
            <a:off x="685800" y="4903178"/>
            <a:ext cx="10789920" cy="640080"/>
          </a:xfrm>
          <a:prstGeom prst="rect">
            <a:avLst/>
          </a:prstGeom>
          <a:noFill/>
          <a:ln/>
        </p:spPr>
        <p:txBody>
          <a:bodyPr wrap="square" lIns="0" tIns="0" rIns="0" bIns="0" rtlCol="0" anchor="t"/>
          <a:lstStyle/>
          <a:p>
            <a:pPr indent="0" marL="0">
              <a:lnSpc>
                <a:spcPts val="1800"/>
              </a:lnSpc>
              <a:buNone/>
            </a:pPr>
            <a:r>
              <a:rPr lang="en-US" sz="1250" dirty="0">
                <a:solidFill>
                  <a:srgbClr val="9FB0C4"/>
                </a:solidFill>
                <a:latin typeface="Arial" pitchFamily="34" charset="0"/>
                <a:ea typeface="Arial" pitchFamily="34" charset="-122"/>
                <a:cs typeface="Arial" pitchFamily="34" charset="-120"/>
              </a:rPr>
              <a:t>Export stock STL writes one file per machine setup, in millimetres, at the mold's own CAD origin.</a:t>
            </a:r>
            <a:endParaRPr lang="en-US" sz="1250" dirty="0"/>
          </a:p>
          <a:p>
            <a:pPr indent="0" marL="0">
              <a:lnSpc>
                <a:spcPts val="1800"/>
              </a:lnSpc>
              <a:buNone/>
            </a:pPr>
            <a:r>
              <a:rPr lang="en-US" sz="1250" dirty="0">
                <a:solidFill>
                  <a:srgbClr val="9FB0C4"/>
                </a:solidFill>
                <a:latin typeface="Arial" pitchFamily="34" charset="0"/>
                <a:ea typeface="Arial" pitchFamily="34" charset="-122"/>
                <a:cs typeface="Arial" pitchFamily="34" charset="-120"/>
              </a:rPr>
              <a:t>It drops onto the model in CAD with nothing to align, so CAM uses it as the stock body directly. Marked beta.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03  ONE PART, END TO END</a:t>
            </a:r>
            <a:endParaRPr lang="en-US" sz="1050" dirty="0"/>
          </a:p>
        </p:txBody>
      </p:sp>
      <p:pic>
        <p:nvPicPr>
          <p:cNvPr id="3" name="Image 0" descr="/home/user/feb-composites-applications/06 Pitch/.img/13-drawings-0.000-0.5-0.jpg">    </p:cNvPr>
          <p:cNvPicPr>
            <a:picLocks noChangeAspect="1"/>
          </p:cNvPicPr>
          <p:nvPr/>
        </p:nvPicPr>
        <p:blipFill>
          <a:blip r:embed="rId1"/>
          <a:stretch>
            <a:fillRect/>
          </a:stretch>
        </p:blipFill>
        <p:spPr>
          <a:xfrm>
            <a:off x="7097358" y="502920"/>
            <a:ext cx="4561242" cy="5852160"/>
          </a:xfrm>
          <a:prstGeom prst="rect">
            <a:avLst/>
          </a:prstGeom>
          <a:effectLst>
            <a:outerShdw sx="100000" sy="100000" kx="0" ky="0" algn="bl" rotWithShape="0" blurRad="203200" dist="38100" dir="5400000">
              <a:srgbClr val="0a1628">
                <a:alpha val="22000"/>
              </a:srgbClr>
            </a:outerShdw>
          </a:effectLst>
        </p:spPr>
      </p:pic>
      <p:sp>
        <p:nvSpPr>
          <p:cNvPr id="4" name="Text 1"/>
          <p:cNvSpPr/>
          <p:nvPr/>
        </p:nvSpPr>
        <p:spPr>
          <a:xfrm>
            <a:off x="685800" y="1371600"/>
            <a:ext cx="5862918" cy="1336548"/>
          </a:xfrm>
          <a:prstGeom prst="rect">
            <a:avLst/>
          </a:prstGeom>
          <a:noFill/>
          <a:ln/>
        </p:spPr>
        <p:txBody>
          <a:bodyPr wrap="square" lIns="0" tIns="0" rIns="0" bIns="0" rtlCol="0" anchor="t"/>
          <a:lstStyle/>
          <a:p>
            <a:pPr indent="0" marL="0">
              <a:lnSpc>
                <a:spcPts val="3220"/>
              </a:lnSpc>
              <a:buNone/>
            </a:pPr>
            <a:r>
              <a:rPr lang="en-US" sz="2800" b="1" dirty="0">
                <a:solidFill>
                  <a:srgbClr val="141D2B"/>
                </a:solidFill>
                <a:latin typeface="Arial" pitchFamily="34" charset="0"/>
                <a:ea typeface="Arial" pitchFamily="34" charset="-122"/>
                <a:cs typeface="Arial" pitchFamily="34" charset="-120"/>
              </a:rPr>
              <a:t>The boards get glued by hand, so it prints a dimensioned sheet per layer</a:t>
            </a:r>
            <a:endParaRPr lang="en-US" sz="2800" dirty="0"/>
          </a:p>
        </p:txBody>
      </p:sp>
      <p:sp>
        <p:nvSpPr>
          <p:cNvPr id="5" name="Text 2"/>
          <p:cNvSpPr/>
          <p:nvPr/>
        </p:nvSpPr>
        <p:spPr>
          <a:xfrm>
            <a:off x="685800" y="3009900"/>
            <a:ext cx="5862918" cy="2194560"/>
          </a:xfrm>
          <a:prstGeom prst="rect">
            <a:avLst/>
          </a:prstGeom>
          <a:noFill/>
          <a:ln/>
        </p:spPr>
        <p:txBody>
          <a:bodyPr wrap="square" lIns="0" tIns="0" rIns="0" bIns="0" rtlCol="0" anchor="t"/>
          <a:lstStyle/>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Whoever is holding layer 3 needs to know how far in from each edge of layer 2 it goes.</a:t>
            </a:r>
            <a:endParaRPr lang="en-US" sz="1350" dirty="0"/>
          </a:p>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Inches to the nearest 1/16in with the exact millimetre bracketed. Every sheet marks the same datum corner.</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04  THE TRAVELER</a:t>
            </a:r>
            <a:endParaRPr lang="en-US" sz="1050" dirty="0"/>
          </a:p>
        </p:txBody>
      </p:sp>
      <p:sp>
        <p:nvSpPr>
          <p:cNvPr id="3" name="Text 1"/>
          <p:cNvSpPr/>
          <p:nvPr/>
        </p:nvSpPr>
        <p:spPr>
          <a:xfrm>
            <a:off x="685800" y="822960"/>
            <a:ext cx="10789920" cy="97840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The traveler carries the stack, the BOM and the standard each step answers to</a:t>
            </a:r>
            <a:endParaRPr lang="en-US" sz="3000" dirty="0"/>
          </a:p>
        </p:txBody>
      </p:sp>
      <p:pic>
        <p:nvPicPr>
          <p:cNvPr id="4" name="Image 0" descr="/home/user/feb-composites-applications/06 Pitch/.img/16-wo-detail-0.000-0.5-0.jpg">    </p:cNvPr>
          <p:cNvPicPr>
            <a:picLocks noChangeAspect="1"/>
          </p:cNvPicPr>
          <p:nvPr/>
        </p:nvPicPr>
        <p:blipFill>
          <a:blip r:embed="rId1"/>
          <a:stretch>
            <a:fillRect/>
          </a:stretch>
        </p:blipFill>
        <p:spPr>
          <a:xfrm>
            <a:off x="4901184" y="2148840"/>
            <a:ext cx="6803136" cy="4251960"/>
          </a:xfrm>
          <a:prstGeom prst="rect">
            <a:avLst/>
          </a:prstGeom>
        </p:spPr>
      </p:pic>
      <p:sp>
        <p:nvSpPr>
          <p:cNvPr id="5" name="Shape 2"/>
          <p:cNvSpPr/>
          <p:nvPr/>
        </p:nvSpPr>
        <p:spPr>
          <a:xfrm>
            <a:off x="4901184" y="2148840"/>
            <a:ext cx="10973" cy="4251960"/>
          </a:xfrm>
          <a:prstGeom prst="rect">
            <a:avLst/>
          </a:prstGeom>
          <a:solidFill>
            <a:srgbClr val="DDE3EC"/>
          </a:solidFill>
          <a:ln/>
        </p:spPr>
      </p:sp>
      <p:sp>
        <p:nvSpPr>
          <p:cNvPr id="6" name="Text 3"/>
          <p:cNvSpPr/>
          <p:nvPr/>
        </p:nvSpPr>
        <p:spPr>
          <a:xfrm>
            <a:off x="685800" y="2148840"/>
            <a:ext cx="3803904" cy="425196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Stack frozen at a revision — any change past that point needs a new one.</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Every step cites the CS clause it comes from.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061058" y="0"/>
            <a:ext cx="8039405" cy="4983480"/>
          </a:xfrm>
          <a:prstGeom prst="rect">
            <a:avLst/>
          </a:prstGeom>
          <a:solidFill>
            <a:srgbClr val="EEF1F6"/>
          </a:solidFill>
          <a:ln/>
        </p:spPr>
      </p:sp>
      <p:pic>
        <p:nvPicPr>
          <p:cNvPr id="3" name="Image 0" descr="/home/user/feb-composites-applications/06 Pitch/.img/16b-buyoffs-0.000-0.5-0.jpg">    </p:cNvPr>
          <p:cNvPicPr>
            <a:picLocks noChangeAspect="1"/>
          </p:cNvPicPr>
          <p:nvPr/>
        </p:nvPicPr>
        <p:blipFill>
          <a:blip r:embed="rId1"/>
          <a:stretch>
            <a:fillRect/>
          </a:stretch>
        </p:blipFill>
        <p:spPr>
          <a:xfrm>
            <a:off x="2408530" y="45720"/>
            <a:ext cx="7344461" cy="4590288"/>
          </a:xfrm>
          <a:prstGeom prst="rect">
            <a:avLst/>
          </a:prstGeom>
          <a:effectLst>
            <a:outerShdw sx="100000" sy="100000" kx="0" ky="0" algn="bl" rotWithShape="0" blurRad="177800" dist="25400" dir="5400000">
              <a:srgbClr val="0a1628">
                <a:alpha val="18000"/>
              </a:srgbClr>
            </a:outerShdw>
          </a:effectLst>
        </p:spPr>
      </p:pic>
      <p:sp>
        <p:nvSpPr>
          <p:cNvPr id="4" name="Shape 1"/>
          <p:cNvSpPr/>
          <p:nvPr/>
        </p:nvSpPr>
        <p:spPr>
          <a:xfrm>
            <a:off x="0" y="4983480"/>
            <a:ext cx="12161520" cy="1874520"/>
          </a:xfrm>
          <a:prstGeom prst="rect">
            <a:avLst/>
          </a:prstGeom>
          <a:solidFill>
            <a:srgbClr val="141D2B"/>
          </a:solidFill>
          <a:ln/>
        </p:spPr>
      </p:sp>
      <p:sp>
        <p:nvSpPr>
          <p:cNvPr id="5" name="Text 2"/>
          <p:cNvSpPr/>
          <p:nvPr/>
        </p:nvSpPr>
        <p:spPr>
          <a:xfrm>
            <a:off x="685800" y="5304409"/>
            <a:ext cx="5486400" cy="219456"/>
          </a:xfrm>
          <a:prstGeom prst="rect">
            <a:avLst/>
          </a:prstGeom>
          <a:noFill/>
          <a:ln/>
        </p:spPr>
        <p:txBody>
          <a:bodyPr wrap="square" lIns="0" tIns="0" rIns="0" bIns="0" rtlCol="0" anchor="ctr"/>
          <a:lstStyle/>
          <a:p>
            <a:pPr indent="0" marL="0">
              <a:buNone/>
            </a:pPr>
            <a:r>
              <a:rPr lang="en-US" sz="1000" b="1" spc="220" kern="0" dirty="0">
                <a:solidFill>
                  <a:srgbClr val="FDB515"/>
                </a:solidFill>
                <a:latin typeface="Arial" pitchFamily="34" charset="0"/>
                <a:ea typeface="Arial" pitchFamily="34" charset="-122"/>
                <a:cs typeface="Arial" pitchFamily="34" charset="-120"/>
              </a:rPr>
              <a:t>04  THE TRAVELER</a:t>
            </a:r>
            <a:endParaRPr lang="en-US" sz="1000" dirty="0"/>
          </a:p>
        </p:txBody>
      </p:sp>
      <p:sp>
        <p:nvSpPr>
          <p:cNvPr id="6" name="Text 3"/>
          <p:cNvSpPr/>
          <p:nvPr/>
        </p:nvSpPr>
        <p:spPr>
          <a:xfrm>
            <a:off x="685800" y="5560441"/>
            <a:ext cx="10789920" cy="464566"/>
          </a:xfrm>
          <a:prstGeom prst="rect">
            <a:avLst/>
          </a:prstGeom>
          <a:noFill/>
          <a:ln/>
        </p:spPr>
        <p:txBody>
          <a:bodyPr wrap="square" lIns="0" tIns="0" rIns="0" bIns="0" rtlCol="0" anchor="t"/>
          <a:lstStyle/>
          <a:p>
            <a:pPr indent="0" marL="0">
              <a:lnSpc>
                <a:spcPts val="2938"/>
              </a:lnSpc>
              <a:buNone/>
            </a:pPr>
            <a:r>
              <a:rPr lang="en-US" sz="2600" b="1" dirty="0">
                <a:solidFill>
                  <a:srgbClr val="FFFFFF"/>
                </a:solidFill>
                <a:latin typeface="Arial" pitchFamily="34" charset="0"/>
                <a:ea typeface="Arial" pitchFamily="34" charset="-122"/>
                <a:cs typeface="Arial" pitchFamily="34" charset="-120"/>
              </a:rPr>
              <a:t>Buy-offs carry a name, and blockers hold the line</a:t>
            </a:r>
            <a:endParaRPr lang="en-US" sz="2600" dirty="0"/>
          </a:p>
        </p:txBody>
      </p:sp>
      <p:sp>
        <p:nvSpPr>
          <p:cNvPr id="7" name="Text 4"/>
          <p:cNvSpPr/>
          <p:nvPr/>
        </p:nvSpPr>
        <p:spPr>
          <a:xfrm>
            <a:off x="685800" y="6025007"/>
            <a:ext cx="10789920" cy="640080"/>
          </a:xfrm>
          <a:prstGeom prst="rect">
            <a:avLst/>
          </a:prstGeom>
          <a:noFill/>
          <a:ln/>
        </p:spPr>
        <p:txBody>
          <a:bodyPr wrap="square" lIns="0" tIns="0" rIns="0" bIns="0" rtlCol="0" anchor="t"/>
          <a:lstStyle/>
          <a:p>
            <a:pPr indent="0" marL="0">
              <a:lnSpc>
                <a:spcPts val="1800"/>
              </a:lnSpc>
              <a:buNone/>
            </a:pPr>
            <a:r>
              <a:rPr lang="en-US" sz="1250" dirty="0">
                <a:solidFill>
                  <a:srgbClr val="9FB0C4"/>
                </a:solidFill>
                <a:latin typeface="Arial" pitchFamily="34" charset="0"/>
                <a:ea typeface="Arial" pitchFamily="34" charset="-122"/>
                <a:cs typeface="Arial" pitchFamily="34" charset="-120"/>
              </a:rPr>
              <a:t>Stack freeze, mold design review and drop test are blockers: later steps stay locked until they're signed.</a:t>
            </a:r>
            <a:endParaRPr lang="en-US" sz="1250" dirty="0"/>
          </a:p>
          <a:p>
            <a:pPr indent="0" marL="0">
              <a:lnSpc>
                <a:spcPts val="1800"/>
              </a:lnSpc>
              <a:buNone/>
            </a:pPr>
            <a:r>
              <a:rPr lang="en-US" sz="1250" dirty="0">
                <a:solidFill>
                  <a:srgbClr val="9FB0C4"/>
                </a:solidFill>
                <a:latin typeface="Arial" pitchFamily="34" charset="0"/>
                <a:ea typeface="Arial" pitchFamily="34" charset="-122"/>
                <a:cs typeface="Arial" pitchFamily="34" charset="-120"/>
              </a:rPr>
              <a:t>It records who was signed in. It does not prove who held the part, and a roster member can still edit the record afterwards.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04  THE TRAVELER</a:t>
            </a:r>
            <a:endParaRPr lang="en-US" sz="1050" dirty="0"/>
          </a:p>
        </p:txBody>
      </p:sp>
      <p:pic>
        <p:nvPicPr>
          <p:cNvPr id="3" name="Image 0" descr="/home/user/feb-composites-applications/06 Pitch/.img/17-print-traveler-0.000-0.5-0.jpg">    </p:cNvPr>
          <p:cNvPicPr>
            <a:picLocks noChangeAspect="1"/>
          </p:cNvPicPr>
          <p:nvPr/>
        </p:nvPicPr>
        <p:blipFill>
          <a:blip r:embed="rId1"/>
          <a:stretch>
            <a:fillRect/>
          </a:stretch>
        </p:blipFill>
        <p:spPr>
          <a:xfrm>
            <a:off x="8702893" y="502920"/>
            <a:ext cx="2955707" cy="5852160"/>
          </a:xfrm>
          <a:prstGeom prst="rect">
            <a:avLst/>
          </a:prstGeom>
          <a:effectLst>
            <a:outerShdw sx="100000" sy="100000" kx="0" ky="0" algn="bl" rotWithShape="0" blurRad="203200" dist="38100" dir="5400000">
              <a:srgbClr val="0a1628">
                <a:alpha val="22000"/>
              </a:srgbClr>
            </a:outerShdw>
          </a:effectLst>
        </p:spPr>
      </p:pic>
      <p:sp>
        <p:nvSpPr>
          <p:cNvPr id="4" name="Text 1"/>
          <p:cNvSpPr/>
          <p:nvPr/>
        </p:nvSpPr>
        <p:spPr>
          <a:xfrm>
            <a:off x="685800" y="1371600"/>
            <a:ext cx="7468453" cy="927608"/>
          </a:xfrm>
          <a:prstGeom prst="rect">
            <a:avLst/>
          </a:prstGeom>
          <a:noFill/>
          <a:ln/>
        </p:spPr>
        <p:txBody>
          <a:bodyPr wrap="square" lIns="0" tIns="0" rIns="0" bIns="0" rtlCol="0" anchor="t"/>
          <a:lstStyle/>
          <a:p>
            <a:pPr indent="0" marL="0">
              <a:lnSpc>
                <a:spcPts val="3220"/>
              </a:lnSpc>
              <a:buNone/>
            </a:pPr>
            <a:r>
              <a:rPr lang="en-US" sz="2800" b="1" dirty="0">
                <a:solidFill>
                  <a:srgbClr val="141D2B"/>
                </a:solidFill>
                <a:latin typeface="Arial" pitchFamily="34" charset="0"/>
                <a:ea typeface="Arial" pitchFamily="34" charset="-122"/>
                <a:cs typeface="Arial" pitchFamily="34" charset="-120"/>
              </a:rPr>
              <a:t>It measures the sheet before it prints it, to hold a two-page traveler</a:t>
            </a:r>
            <a:endParaRPr lang="en-US" sz="2800" dirty="0"/>
          </a:p>
        </p:txBody>
      </p:sp>
      <p:sp>
        <p:nvSpPr>
          <p:cNvPr id="5" name="Text 2"/>
          <p:cNvSpPr/>
          <p:nvPr/>
        </p:nvSpPr>
        <p:spPr>
          <a:xfrm>
            <a:off x="685800" y="2600960"/>
            <a:ext cx="7468453" cy="2194560"/>
          </a:xfrm>
          <a:prstGeom prst="rect">
            <a:avLst/>
          </a:prstGeom>
          <a:noFill/>
          <a:ln/>
        </p:spPr>
        <p:txBody>
          <a:bodyPr wrap="square" lIns="0" tIns="0" rIns="0" bIns="0" rtlCol="0" anchor="t"/>
          <a:lstStyle/>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The app renders the sheet, measures what the browser actually laid out, and steps down through tighter layouts until it fits.</a:t>
            </a:r>
            <a:endParaRPr lang="en-US" sz="1350" dirty="0"/>
          </a:p>
          <a:p>
            <a:pPr indent="0" marL="0">
              <a:lnSpc>
                <a:spcPts val="2000"/>
              </a:lnSpc>
              <a:spcAft>
                <a:spcPts val="800"/>
              </a:spcAft>
              <a:buNone/>
            </a:pPr>
            <a:r>
              <a:rPr lang="en-US" sz="1350" dirty="0">
                <a:solidFill>
                  <a:srgbClr val="515F74"/>
                </a:solidFill>
                <a:latin typeface="Arial" pitchFamily="34" charset="0"/>
                <a:ea typeface="Arial" pitchFamily="34" charset="-122"/>
                <a:cs typeface="Arial" pitchFamily="34" charset="-120"/>
              </a:rPr>
              <a:t>Blank travelers for the bench. Always black-on-white, whatever theme you're in.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05  RUNNING THE SEASON</a:t>
            </a:r>
            <a:endParaRPr lang="en-US" sz="1050" dirty="0"/>
          </a:p>
        </p:txBody>
      </p:sp>
      <p:sp>
        <p:nvSpPr>
          <p:cNvPr id="3" name="Text 1"/>
          <p:cNvSpPr/>
          <p:nvPr/>
        </p:nvSpPr>
        <p:spPr>
          <a:xfrm>
            <a:off x="685800" y="822960"/>
            <a:ext cx="10789920" cy="54406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Everything that isn't a part lives in Tickets</a:t>
            </a:r>
            <a:endParaRPr lang="en-US" sz="3000" dirty="0"/>
          </a:p>
        </p:txBody>
      </p:sp>
      <p:pic>
        <p:nvPicPr>
          <p:cNvPr id="4" name="Image 0" descr="/home/user/feb-composites-applications/06 Pitch/.img/18-tickets-board-0.000-0.5-0.jpg">    </p:cNvPr>
          <p:cNvPicPr>
            <a:picLocks noChangeAspect="1"/>
          </p:cNvPicPr>
          <p:nvPr/>
        </p:nvPicPr>
        <p:blipFill>
          <a:blip r:embed="rId1"/>
          <a:stretch>
            <a:fillRect/>
          </a:stretch>
        </p:blipFill>
        <p:spPr>
          <a:xfrm>
            <a:off x="4160520" y="2665571"/>
            <a:ext cx="7543800" cy="3735229"/>
          </a:xfrm>
          <a:prstGeom prst="rect">
            <a:avLst/>
          </a:prstGeom>
        </p:spPr>
      </p:pic>
      <p:sp>
        <p:nvSpPr>
          <p:cNvPr id="5" name="Shape 2"/>
          <p:cNvSpPr/>
          <p:nvPr/>
        </p:nvSpPr>
        <p:spPr>
          <a:xfrm>
            <a:off x="4160520" y="2665571"/>
            <a:ext cx="10973" cy="3735229"/>
          </a:xfrm>
          <a:prstGeom prst="rect">
            <a:avLst/>
          </a:prstGeom>
          <a:solidFill>
            <a:srgbClr val="DDE3EC"/>
          </a:solidFill>
          <a:ln/>
        </p:spPr>
      </p:sp>
      <p:sp>
        <p:nvSpPr>
          <p:cNvPr id="6" name="Text 3"/>
          <p:cNvSpPr/>
          <p:nvPr/>
        </p:nvSpPr>
        <p:spPr>
          <a:xfrm>
            <a:off x="685800" y="1714500"/>
            <a:ext cx="3063240" cy="468630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R&amp;D, process fixes, bugs, outreach. Board or list, assignees, watchers, sub-tickets.</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Cross-linked to the parts and work orders they touch.</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05  RUNNING THE SEASON</a:t>
            </a:r>
            <a:endParaRPr lang="en-US" sz="1050" dirty="0"/>
          </a:p>
        </p:txBody>
      </p:sp>
      <p:sp>
        <p:nvSpPr>
          <p:cNvPr id="3" name="Text 1"/>
          <p:cNvSpPr/>
          <p:nvPr/>
        </p:nvSpPr>
        <p:spPr>
          <a:xfrm>
            <a:off x="685800" y="822960"/>
            <a:ext cx="10789920" cy="97840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The weekly plan pulls each person's tasks from their ticket due dates</a:t>
            </a:r>
            <a:endParaRPr lang="en-US" sz="3000" dirty="0"/>
          </a:p>
        </p:txBody>
      </p:sp>
      <p:pic>
        <p:nvPicPr>
          <p:cNvPr id="4" name="Image 0" descr="/home/user/feb-composites-applications/06 Pitch/.img/18b-weeklyplan-0.000-0.5-0.jpg">    </p:cNvPr>
          <p:cNvPicPr>
            <a:picLocks noChangeAspect="1"/>
          </p:cNvPicPr>
          <p:nvPr/>
        </p:nvPicPr>
        <p:blipFill>
          <a:blip r:embed="rId1"/>
          <a:stretch>
            <a:fillRect/>
          </a:stretch>
        </p:blipFill>
        <p:spPr>
          <a:xfrm>
            <a:off x="4901184" y="2148840"/>
            <a:ext cx="6803136" cy="4251960"/>
          </a:xfrm>
          <a:prstGeom prst="rect">
            <a:avLst/>
          </a:prstGeom>
        </p:spPr>
      </p:pic>
      <p:sp>
        <p:nvSpPr>
          <p:cNvPr id="5" name="Shape 2"/>
          <p:cNvSpPr/>
          <p:nvPr/>
        </p:nvSpPr>
        <p:spPr>
          <a:xfrm>
            <a:off x="4901184" y="2148840"/>
            <a:ext cx="10973" cy="4251960"/>
          </a:xfrm>
          <a:prstGeom prst="rect">
            <a:avLst/>
          </a:prstGeom>
          <a:solidFill>
            <a:srgbClr val="DDE3EC"/>
          </a:solidFill>
          <a:ln/>
        </p:spPr>
      </p:sp>
      <p:sp>
        <p:nvSpPr>
          <p:cNvPr id="6" name="Text 3"/>
          <p:cNvSpPr/>
          <p:nvPr/>
        </p:nvSpPr>
        <p:spPr>
          <a:xfrm>
            <a:off x="685800" y="2148840"/>
            <a:ext cx="3803904" cy="425196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Plus carpools — who's driving to RFS, when, and how many seats are left.</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Logistics stop living in one person's head, or in a thread that scrolls away.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05  RUNNING THE SEASON</a:t>
            </a:r>
            <a:endParaRPr lang="en-US" sz="1050" dirty="0"/>
          </a:p>
        </p:txBody>
      </p:sp>
      <p:sp>
        <p:nvSpPr>
          <p:cNvPr id="3" name="Text 1"/>
          <p:cNvSpPr/>
          <p:nvPr/>
        </p:nvSpPr>
        <p:spPr>
          <a:xfrm>
            <a:off x="685800" y="822960"/>
            <a:ext cx="10789920" cy="544068"/>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Purchases run Submitted, Ordered, Reimbursed</a:t>
            </a:r>
            <a:endParaRPr lang="en-US" sz="3000" dirty="0"/>
          </a:p>
        </p:txBody>
      </p:sp>
      <p:pic>
        <p:nvPicPr>
          <p:cNvPr id="4" name="Image 0" descr="/home/user/feb-composites-applications/06 Pitch/.img/19-budget-0.000-0.5-0.jpg">    </p:cNvPr>
          <p:cNvPicPr>
            <a:picLocks noChangeAspect="1"/>
          </p:cNvPicPr>
          <p:nvPr/>
        </p:nvPicPr>
        <p:blipFill>
          <a:blip r:embed="rId1"/>
          <a:stretch>
            <a:fillRect/>
          </a:stretch>
        </p:blipFill>
        <p:spPr>
          <a:xfrm>
            <a:off x="4160520" y="2440305"/>
            <a:ext cx="7543800" cy="3960495"/>
          </a:xfrm>
          <a:prstGeom prst="rect">
            <a:avLst/>
          </a:prstGeom>
        </p:spPr>
      </p:pic>
      <p:sp>
        <p:nvSpPr>
          <p:cNvPr id="5" name="Shape 2"/>
          <p:cNvSpPr/>
          <p:nvPr/>
        </p:nvSpPr>
        <p:spPr>
          <a:xfrm>
            <a:off x="4160520" y="2440305"/>
            <a:ext cx="10973" cy="3960495"/>
          </a:xfrm>
          <a:prstGeom prst="rect">
            <a:avLst/>
          </a:prstGeom>
          <a:solidFill>
            <a:srgbClr val="DDE3EC"/>
          </a:solidFill>
          <a:ln/>
        </p:spPr>
      </p:sp>
      <p:sp>
        <p:nvSpPr>
          <p:cNvPr id="6" name="Text 3"/>
          <p:cNvSpPr/>
          <p:nvPr/>
        </p:nvSpPr>
        <p:spPr>
          <a:xfrm>
            <a:off x="685800" y="1714500"/>
            <a:ext cx="3063240" cy="4686300"/>
          </a:xfrm>
          <a:prstGeom prst="rect">
            <a:avLst/>
          </a:prstGeom>
          <a:noFill/>
          <a:ln/>
        </p:spPr>
        <p:txBody>
          <a:bodyPr wrap="square" lIns="0" tIns="0" rIns="0" bIns="0" rtlCol="0" anchor="t"/>
          <a:lstStyle/>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Anything over $50 is flagged for approval, per CS-012.</a:t>
            </a:r>
            <a:endParaRPr lang="en-US" sz="1400" dirty="0"/>
          </a:p>
          <a:p>
            <a:pPr indent="0" marL="0">
              <a:lnSpc>
                <a:spcPts val="2100"/>
              </a:lnSpc>
              <a:spcAft>
                <a:spcPts val="900"/>
              </a:spcAft>
              <a:buNone/>
            </a:pPr>
            <a:r>
              <a:rPr lang="en-US" sz="1400" dirty="0">
                <a:solidFill>
                  <a:srgbClr val="515F74"/>
                </a:solidFill>
                <a:latin typeface="Arial" pitchFamily="34" charset="0"/>
                <a:ea typeface="Arial" pitchFamily="34" charset="-122"/>
                <a:cs typeface="Arial" pitchFamily="34" charset="-120"/>
              </a:rPr>
              <a:t>SN5 ran about $5.3k through one person's personal card — the totals on this screen are demo data.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05  RUNNING THE SEASON</a:t>
            </a:r>
            <a:endParaRPr lang="en-US" sz="1050" dirty="0"/>
          </a:p>
        </p:txBody>
      </p:sp>
      <p:sp>
        <p:nvSpPr>
          <p:cNvPr id="3" name="Text 1"/>
          <p:cNvSpPr/>
          <p:nvPr/>
        </p:nvSpPr>
        <p:spPr>
          <a:xfrm>
            <a:off x="685800" y="822960"/>
            <a:ext cx="10789920" cy="868680"/>
          </a:xfrm>
          <a:prstGeom prst="rect">
            <a:avLst/>
          </a:prstGeom>
          <a:noFill/>
          <a:ln/>
        </p:spPr>
        <p:txBody>
          <a:bodyPr wrap="square" lIns="0" tIns="0" rIns="0" bIns="0" rtlCol="0" anchor="t"/>
          <a:lstStyle/>
          <a:p>
            <a:pPr indent="0" marL="0">
              <a:lnSpc>
                <a:spcPts val="3420"/>
              </a:lnSpc>
              <a:buNone/>
            </a:pPr>
            <a:r>
              <a:rPr lang="en-US" sz="3000" b="1" dirty="0">
                <a:solidFill>
                  <a:srgbClr val="141D2B"/>
                </a:solidFill>
                <a:latin typeface="Arial" pitchFamily="34" charset="0"/>
                <a:ea typeface="Arial" pitchFamily="34" charset="-122"/>
                <a:cs typeface="Arial" pitchFamily="34" charset="-120"/>
              </a:rPr>
              <a:t>Every reference doc in the app</a:t>
            </a:r>
            <a:endParaRPr lang="en-US" sz="3000" dirty="0"/>
          </a:p>
        </p:txBody>
      </p:sp>
      <p:pic>
        <p:nvPicPr>
          <p:cNvPr id="4" name="Image 0" descr="/home/user/feb-composites-applications/06 Pitch/.img/20-documents-1.742-1-0.jpg">    </p:cNvPr>
          <p:cNvPicPr>
            <a:picLocks noChangeAspect="1"/>
          </p:cNvPicPr>
          <p:nvPr/>
        </p:nvPicPr>
        <p:blipFill>
          <a:blip r:embed="rId1"/>
          <a:stretch>
            <a:fillRect/>
          </a:stretch>
        </p:blipFill>
        <p:spPr>
          <a:xfrm>
            <a:off x="685800" y="1920240"/>
            <a:ext cx="5257800" cy="3017520"/>
          </a:xfrm>
          <a:prstGeom prst="rect">
            <a:avLst/>
          </a:prstGeom>
        </p:spPr>
      </p:pic>
      <p:sp>
        <p:nvSpPr>
          <p:cNvPr id="5" name="Text 2"/>
          <p:cNvSpPr/>
          <p:nvPr/>
        </p:nvSpPr>
        <p:spPr>
          <a:xfrm>
            <a:off x="685800" y="5074920"/>
            <a:ext cx="5257800" cy="329184"/>
          </a:xfrm>
          <a:prstGeom prst="rect">
            <a:avLst/>
          </a:prstGeom>
          <a:noFill/>
          <a:ln/>
        </p:spPr>
        <p:txBody>
          <a:bodyPr wrap="square" lIns="0" tIns="0" rIns="0" bIns="0" rtlCol="0" anchor="ctr"/>
          <a:lstStyle/>
          <a:p>
            <a:pPr indent="0" marL="0">
              <a:buNone/>
            </a:pPr>
            <a:r>
              <a:rPr lang="en-US" sz="1700" b="1" dirty="0">
                <a:solidFill>
                  <a:srgbClr val="003262"/>
                </a:solidFill>
                <a:latin typeface="Arial" pitchFamily="34" charset="0"/>
                <a:ea typeface="Arial" pitchFamily="34" charset="-122"/>
                <a:cs typeface="Arial" pitchFamily="34" charset="-120"/>
              </a:rPr>
              <a:t>Documents</a:t>
            </a:r>
            <a:endParaRPr lang="en-US" sz="1700" dirty="0"/>
          </a:p>
        </p:txBody>
      </p:sp>
      <p:sp>
        <p:nvSpPr>
          <p:cNvPr id="6" name="Text 3"/>
          <p:cNvSpPr/>
          <p:nvPr/>
        </p:nvSpPr>
        <p:spPr>
          <a:xfrm>
            <a:off x="685800" y="5468112"/>
            <a:ext cx="5257800" cy="1005840"/>
          </a:xfrm>
          <a:prstGeom prst="rect">
            <a:avLst/>
          </a:prstGeom>
          <a:noFill/>
          <a:ln/>
        </p:spPr>
        <p:txBody>
          <a:bodyPr wrap="square" lIns="0" tIns="0" rIns="0" bIns="0" rtlCol="0" anchor="t"/>
          <a:lstStyle/>
          <a:p>
            <a:pPr indent="0" marL="0">
              <a:lnSpc>
                <a:spcPts val="1900"/>
              </a:lnSpc>
              <a:buNone/>
            </a:pPr>
            <a:r>
              <a:rPr lang="en-US" sz="1300" dirty="0">
                <a:solidFill>
                  <a:srgbClr val="515F74"/>
                </a:solidFill>
                <a:latin typeface="Arial" pitchFamily="34" charset="0"/>
                <a:ea typeface="Arial" pitchFamily="34" charset="-122"/>
                <a:cs typeface="Arial" pitchFamily="34" charset="-120"/>
              </a:rPr>
              <a:t>25 manufacturer datasheets, the CS standards rendered from source, and the shop printables. Filterable. Anyone can upload.</a:t>
            </a:r>
            <a:endParaRPr lang="en-US" sz="1300" dirty="0"/>
          </a:p>
        </p:txBody>
      </p:sp>
      <p:pic>
        <p:nvPicPr>
          <p:cNvPr id="7" name="Image 1" descr="/home/user/feb-composites-applications/06 Pitch/.img/20b-reports-1.742-1-0.jpg">    </p:cNvPr>
          <p:cNvPicPr>
            <a:picLocks noChangeAspect="1"/>
          </p:cNvPicPr>
          <p:nvPr/>
        </p:nvPicPr>
        <p:blipFill>
          <a:blip r:embed="rId2"/>
          <a:stretch>
            <a:fillRect/>
          </a:stretch>
        </p:blipFill>
        <p:spPr>
          <a:xfrm>
            <a:off x="6217920" y="1920240"/>
            <a:ext cx="5257800" cy="3017520"/>
          </a:xfrm>
          <a:prstGeom prst="rect">
            <a:avLst/>
          </a:prstGeom>
        </p:spPr>
      </p:pic>
      <p:sp>
        <p:nvSpPr>
          <p:cNvPr id="8" name="Text 4"/>
          <p:cNvSpPr/>
          <p:nvPr/>
        </p:nvSpPr>
        <p:spPr>
          <a:xfrm>
            <a:off x="6217920" y="5074920"/>
            <a:ext cx="5257800" cy="329184"/>
          </a:xfrm>
          <a:prstGeom prst="rect">
            <a:avLst/>
          </a:prstGeom>
          <a:noFill/>
          <a:ln/>
        </p:spPr>
        <p:txBody>
          <a:bodyPr wrap="square" lIns="0" tIns="0" rIns="0" bIns="0" rtlCol="0" anchor="ctr"/>
          <a:lstStyle/>
          <a:p>
            <a:pPr indent="0" marL="0">
              <a:buNone/>
            </a:pPr>
            <a:r>
              <a:rPr lang="en-US" sz="1700" b="1" dirty="0">
                <a:solidFill>
                  <a:srgbClr val="003262"/>
                </a:solidFill>
                <a:latin typeface="Arial" pitchFamily="34" charset="0"/>
                <a:ea typeface="Arial" pitchFamily="34" charset="-122"/>
                <a:cs typeface="Arial" pitchFamily="34" charset="-120"/>
              </a:rPr>
              <a:t>Reports</a:t>
            </a:r>
            <a:endParaRPr lang="en-US" sz="1700" dirty="0"/>
          </a:p>
        </p:txBody>
      </p:sp>
      <p:sp>
        <p:nvSpPr>
          <p:cNvPr id="9" name="Text 5"/>
          <p:cNvSpPr/>
          <p:nvPr/>
        </p:nvSpPr>
        <p:spPr>
          <a:xfrm>
            <a:off x="6217920" y="5468112"/>
            <a:ext cx="5257800" cy="1005840"/>
          </a:xfrm>
          <a:prstGeom prst="rect">
            <a:avLst/>
          </a:prstGeom>
          <a:noFill/>
          <a:ln/>
        </p:spPr>
        <p:txBody>
          <a:bodyPr wrap="square" lIns="0" tIns="0" rIns="0" bIns="0" rtlCol="0" anchor="t"/>
          <a:lstStyle/>
          <a:p>
            <a:pPr indent="0" marL="0">
              <a:lnSpc>
                <a:spcPts val="1900"/>
              </a:lnSpc>
              <a:buNone/>
            </a:pPr>
            <a:r>
              <a:rPr lang="en-US" sz="1300" dirty="0">
                <a:solidFill>
                  <a:srgbClr val="515F74"/>
                </a:solidFill>
                <a:latin typeface="Arial" pitchFamily="34" charset="0"/>
                <a:ea typeface="Arial" pitchFamily="34" charset="-122"/>
                <a:cs typeface="Arial" pitchFamily="34" charset="-120"/>
              </a:rPr>
              <a:t>CSV export per dataset, plus the Monday-meeting status board as a single printable page.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003262"/>
                </a:solidFill>
                <a:latin typeface="Arial" pitchFamily="34" charset="0"/>
                <a:ea typeface="Arial" pitchFamily="34" charset="-122"/>
                <a:cs typeface="Arial" pitchFamily="34" charset="-120"/>
              </a:rPr>
              <a:t>06  WHY IT SURVIVES HANDOFF</a:t>
            </a:r>
            <a:endParaRPr lang="en-US" sz="1050" dirty="0"/>
          </a:p>
        </p:txBody>
      </p:sp>
      <p:sp>
        <p:nvSpPr>
          <p:cNvPr id="3" name="Text 1"/>
          <p:cNvSpPr/>
          <p:nvPr/>
        </p:nvSpPr>
        <p:spPr>
          <a:xfrm>
            <a:off x="685800" y="914400"/>
            <a:ext cx="10789920" cy="914400"/>
          </a:xfrm>
          <a:prstGeom prst="rect">
            <a:avLst/>
          </a:prstGeom>
          <a:noFill/>
          <a:ln/>
        </p:spPr>
        <p:txBody>
          <a:bodyPr wrap="square" lIns="0" tIns="0" rIns="0" bIns="0" rtlCol="0" anchor="t"/>
          <a:lstStyle/>
          <a:p>
            <a:pPr indent="0" marL="0">
              <a:lnSpc>
                <a:spcPts val="3876"/>
              </a:lnSpc>
              <a:buNone/>
            </a:pPr>
            <a:r>
              <a:rPr lang="en-US" sz="3400" b="1" dirty="0">
                <a:solidFill>
                  <a:srgbClr val="141D2B"/>
                </a:solidFill>
                <a:latin typeface="Arial" pitchFamily="34" charset="0"/>
                <a:ea typeface="Arial" pitchFamily="34" charset="-122"/>
                <a:cs typeface="Arial" pitchFamily="34" charset="-120"/>
              </a:rPr>
              <a:t>Built to still run in two years</a:t>
            </a:r>
            <a:endParaRPr lang="en-US" sz="3400" dirty="0"/>
          </a:p>
        </p:txBody>
      </p:sp>
      <p:sp>
        <p:nvSpPr>
          <p:cNvPr id="4" name="Text 2"/>
          <p:cNvSpPr/>
          <p:nvPr/>
        </p:nvSpPr>
        <p:spPr>
          <a:xfrm>
            <a:off x="685800" y="2286000"/>
            <a:ext cx="2240280" cy="566928"/>
          </a:xfrm>
          <a:prstGeom prst="rect">
            <a:avLst/>
          </a:prstGeom>
          <a:noFill/>
          <a:ln/>
        </p:spPr>
        <p:txBody>
          <a:bodyPr wrap="square" lIns="0" tIns="0" rIns="0" bIns="0" rtlCol="0" anchor="ctr"/>
          <a:lstStyle/>
          <a:p>
            <a:pPr algn="r" indent="0" marL="0">
              <a:buNone/>
            </a:pPr>
            <a:r>
              <a:rPr lang="en-US" sz="5000" b="1" spc="-100" kern="0" dirty="0">
                <a:solidFill>
                  <a:srgbClr val="003262"/>
                </a:solidFill>
                <a:latin typeface="Arial" pitchFamily="34" charset="0"/>
                <a:ea typeface="Arial" pitchFamily="34" charset="-122"/>
                <a:cs typeface="Arial" pitchFamily="34" charset="-120"/>
              </a:rPr>
              <a:t>0</a:t>
            </a:r>
            <a:endParaRPr lang="en-US" sz="5000" dirty="0"/>
          </a:p>
        </p:txBody>
      </p:sp>
      <p:sp>
        <p:nvSpPr>
          <p:cNvPr id="5" name="Text 3"/>
          <p:cNvSpPr/>
          <p:nvPr/>
        </p:nvSpPr>
        <p:spPr>
          <a:xfrm>
            <a:off x="3200400" y="2286000"/>
            <a:ext cx="2286000" cy="566928"/>
          </a:xfrm>
          <a:prstGeom prst="rect">
            <a:avLst/>
          </a:prstGeom>
          <a:noFill/>
          <a:ln/>
        </p:spPr>
        <p:txBody>
          <a:bodyPr wrap="square" lIns="0" tIns="0" rIns="0" bIns="0" rtlCol="0" anchor="ctr"/>
          <a:lstStyle/>
          <a:p>
            <a:pPr indent="0" marL="0">
              <a:buNone/>
            </a:pPr>
            <a:r>
              <a:rPr lang="en-US" sz="1500" b="1" dirty="0">
                <a:solidFill>
                  <a:srgbClr val="141D2B"/>
                </a:solidFill>
                <a:latin typeface="Arial" pitchFamily="34" charset="0"/>
                <a:ea typeface="Arial" pitchFamily="34" charset="-122"/>
                <a:cs typeface="Arial" pitchFamily="34" charset="-120"/>
              </a:rPr>
              <a:t>build steps</a:t>
            </a:r>
            <a:endParaRPr lang="en-US" sz="1500" dirty="0"/>
          </a:p>
        </p:txBody>
      </p:sp>
      <p:sp>
        <p:nvSpPr>
          <p:cNvPr id="6" name="Text 4"/>
          <p:cNvSpPr/>
          <p:nvPr/>
        </p:nvSpPr>
        <p:spPr>
          <a:xfrm>
            <a:off x="5623560" y="2350008"/>
            <a:ext cx="5852160" cy="914400"/>
          </a:xfrm>
          <a:prstGeom prst="rect">
            <a:avLst/>
          </a:prstGeom>
          <a:noFill/>
          <a:ln/>
        </p:spPr>
        <p:txBody>
          <a:bodyPr wrap="square" lIns="0" tIns="0" rIns="0" bIns="0" rtlCol="0" anchor="t"/>
          <a:lstStyle/>
          <a:p>
            <a:pPr indent="0" marL="0">
              <a:lnSpc>
                <a:spcPts val="1800"/>
              </a:lnSpc>
              <a:buNone/>
            </a:pPr>
            <a:r>
              <a:rPr lang="en-US" sz="1300" dirty="0">
                <a:solidFill>
                  <a:srgbClr val="515F74"/>
                </a:solidFill>
                <a:latin typeface="Arial" pitchFamily="34" charset="0"/>
                <a:ea typeface="Arial" pitchFamily="34" charset="-122"/>
                <a:cs typeface="Arial" pitchFamily="34" charset="-120"/>
              </a:rPr>
              <a:t>No framework, no bundler — 24 plain script tags. Open the file and it runs.</a:t>
            </a:r>
            <a:endParaRPr lang="en-US" sz="1300" dirty="0"/>
          </a:p>
        </p:txBody>
      </p:sp>
      <p:sp>
        <p:nvSpPr>
          <p:cNvPr id="7" name="Shape 5"/>
          <p:cNvSpPr/>
          <p:nvPr/>
        </p:nvSpPr>
        <p:spPr>
          <a:xfrm>
            <a:off x="685800" y="3300984"/>
            <a:ext cx="10789920" cy="10973"/>
          </a:xfrm>
          <a:prstGeom prst="rect">
            <a:avLst/>
          </a:prstGeom>
          <a:solidFill>
            <a:srgbClr val="DDE3EC"/>
          </a:solidFill>
          <a:ln/>
        </p:spPr>
      </p:sp>
      <p:sp>
        <p:nvSpPr>
          <p:cNvPr id="8" name="Text 6"/>
          <p:cNvSpPr/>
          <p:nvPr/>
        </p:nvSpPr>
        <p:spPr>
          <a:xfrm>
            <a:off x="685800" y="3520440"/>
            <a:ext cx="2240280" cy="566928"/>
          </a:xfrm>
          <a:prstGeom prst="rect">
            <a:avLst/>
          </a:prstGeom>
          <a:noFill/>
          <a:ln/>
        </p:spPr>
        <p:txBody>
          <a:bodyPr wrap="square" lIns="0" tIns="0" rIns="0" bIns="0" rtlCol="0" anchor="ctr"/>
          <a:lstStyle/>
          <a:p>
            <a:pPr algn="r" indent="0" marL="0">
              <a:buNone/>
            </a:pPr>
            <a:r>
              <a:rPr lang="en-US" sz="5000" b="1" spc="-100" kern="0" dirty="0">
                <a:solidFill>
                  <a:srgbClr val="003262"/>
                </a:solidFill>
                <a:latin typeface="Arial" pitchFamily="34" charset="0"/>
                <a:ea typeface="Arial" pitchFamily="34" charset="-122"/>
                <a:cs typeface="Arial" pitchFamily="34" charset="-120"/>
              </a:rPr>
              <a:t>1</a:t>
            </a:r>
            <a:endParaRPr lang="en-US" sz="5000" dirty="0"/>
          </a:p>
        </p:txBody>
      </p:sp>
      <p:sp>
        <p:nvSpPr>
          <p:cNvPr id="9" name="Text 7"/>
          <p:cNvSpPr/>
          <p:nvPr/>
        </p:nvSpPr>
        <p:spPr>
          <a:xfrm>
            <a:off x="3200400" y="3520440"/>
            <a:ext cx="2286000" cy="566928"/>
          </a:xfrm>
          <a:prstGeom prst="rect">
            <a:avLst/>
          </a:prstGeom>
          <a:noFill/>
          <a:ln/>
        </p:spPr>
        <p:txBody>
          <a:bodyPr wrap="square" lIns="0" tIns="0" rIns="0" bIns="0" rtlCol="0" anchor="ctr"/>
          <a:lstStyle/>
          <a:p>
            <a:pPr indent="0" marL="0">
              <a:buNone/>
            </a:pPr>
            <a:r>
              <a:rPr lang="en-US" sz="1500" b="1" dirty="0">
                <a:solidFill>
                  <a:srgbClr val="141D2B"/>
                </a:solidFill>
                <a:latin typeface="Arial" pitchFamily="34" charset="0"/>
                <a:ea typeface="Arial" pitchFamily="34" charset="-122"/>
                <a:cs typeface="Arial" pitchFamily="34" charset="-120"/>
              </a:rPr>
              <a:t>dependency</a:t>
            </a:r>
            <a:endParaRPr lang="en-US" sz="1500" dirty="0"/>
          </a:p>
        </p:txBody>
      </p:sp>
      <p:sp>
        <p:nvSpPr>
          <p:cNvPr id="10" name="Text 8"/>
          <p:cNvSpPr/>
          <p:nvPr/>
        </p:nvSpPr>
        <p:spPr>
          <a:xfrm>
            <a:off x="5623560" y="3584448"/>
            <a:ext cx="5852160" cy="914400"/>
          </a:xfrm>
          <a:prstGeom prst="rect">
            <a:avLst/>
          </a:prstGeom>
          <a:noFill/>
          <a:ln/>
        </p:spPr>
        <p:txBody>
          <a:bodyPr wrap="square" lIns="0" tIns="0" rIns="0" bIns="0" rtlCol="0" anchor="t"/>
          <a:lstStyle/>
          <a:p>
            <a:pPr indent="0" marL="0">
              <a:lnSpc>
                <a:spcPts val="1800"/>
              </a:lnSpc>
              <a:buNone/>
            </a:pPr>
            <a:r>
              <a:rPr lang="en-US" sz="1300" dirty="0">
                <a:solidFill>
                  <a:srgbClr val="515F74"/>
                </a:solidFill>
                <a:latin typeface="Arial" pitchFamily="34" charset="0"/>
                <a:ea typeface="Arial" pitchFamily="34" charset="-122"/>
                <a:cs typeface="Arial" pitchFamily="34" charset="-120"/>
              </a:rPr>
              <a:t>DOMPurify, SRI-pinned and self-hosted after shop wifi silently degraded it from a CDN.</a:t>
            </a:r>
            <a:endParaRPr lang="en-US" sz="1300" dirty="0"/>
          </a:p>
        </p:txBody>
      </p:sp>
      <p:sp>
        <p:nvSpPr>
          <p:cNvPr id="11" name="Shape 9"/>
          <p:cNvSpPr/>
          <p:nvPr/>
        </p:nvSpPr>
        <p:spPr>
          <a:xfrm>
            <a:off x="685800" y="4535424"/>
            <a:ext cx="10789920" cy="10973"/>
          </a:xfrm>
          <a:prstGeom prst="rect">
            <a:avLst/>
          </a:prstGeom>
          <a:solidFill>
            <a:srgbClr val="DDE3EC"/>
          </a:solidFill>
          <a:ln/>
        </p:spPr>
      </p:sp>
      <p:sp>
        <p:nvSpPr>
          <p:cNvPr id="12" name="Text 10"/>
          <p:cNvSpPr/>
          <p:nvPr/>
        </p:nvSpPr>
        <p:spPr>
          <a:xfrm>
            <a:off x="685800" y="4754880"/>
            <a:ext cx="2240280" cy="566928"/>
          </a:xfrm>
          <a:prstGeom prst="rect">
            <a:avLst/>
          </a:prstGeom>
          <a:noFill/>
          <a:ln/>
        </p:spPr>
        <p:txBody>
          <a:bodyPr wrap="square" lIns="0" tIns="0" rIns="0" bIns="0" rtlCol="0" anchor="ctr"/>
          <a:lstStyle/>
          <a:p>
            <a:pPr algn="r" indent="0" marL="0">
              <a:buNone/>
            </a:pPr>
            <a:r>
              <a:rPr lang="en-US" sz="4000" b="1" spc="-100" kern="0" dirty="0">
                <a:solidFill>
                  <a:srgbClr val="003262"/>
                </a:solidFill>
                <a:latin typeface="Arial" pitchFamily="34" charset="0"/>
                <a:ea typeface="Arial" pitchFamily="34" charset="-122"/>
                <a:cs typeface="Arial" pitchFamily="34" charset="-120"/>
              </a:rPr>
              <a:t>8,900</a:t>
            </a:r>
            <a:endParaRPr lang="en-US" sz="4000" dirty="0"/>
          </a:p>
        </p:txBody>
      </p:sp>
      <p:sp>
        <p:nvSpPr>
          <p:cNvPr id="13" name="Text 11"/>
          <p:cNvSpPr/>
          <p:nvPr/>
        </p:nvSpPr>
        <p:spPr>
          <a:xfrm>
            <a:off x="3200400" y="4754880"/>
            <a:ext cx="2286000" cy="566928"/>
          </a:xfrm>
          <a:prstGeom prst="rect">
            <a:avLst/>
          </a:prstGeom>
          <a:noFill/>
          <a:ln/>
        </p:spPr>
        <p:txBody>
          <a:bodyPr wrap="square" lIns="0" tIns="0" rIns="0" bIns="0" rtlCol="0" anchor="ctr"/>
          <a:lstStyle/>
          <a:p>
            <a:pPr indent="0" marL="0">
              <a:buNone/>
            </a:pPr>
            <a:r>
              <a:rPr lang="en-US" sz="1500" b="1" dirty="0">
                <a:solidFill>
                  <a:srgbClr val="141D2B"/>
                </a:solidFill>
                <a:latin typeface="Arial" pitchFamily="34" charset="0"/>
                <a:ea typeface="Arial" pitchFamily="34" charset="-122"/>
                <a:cs typeface="Arial" pitchFamily="34" charset="-120"/>
              </a:rPr>
              <a:t>lines of app source</a:t>
            </a:r>
            <a:endParaRPr lang="en-US" sz="1500" dirty="0"/>
          </a:p>
        </p:txBody>
      </p:sp>
      <p:sp>
        <p:nvSpPr>
          <p:cNvPr id="14" name="Text 12"/>
          <p:cNvSpPr/>
          <p:nvPr/>
        </p:nvSpPr>
        <p:spPr>
          <a:xfrm>
            <a:off x="5623560" y="4818888"/>
            <a:ext cx="5852160" cy="914400"/>
          </a:xfrm>
          <a:prstGeom prst="rect">
            <a:avLst/>
          </a:prstGeom>
          <a:noFill/>
          <a:ln/>
        </p:spPr>
        <p:txBody>
          <a:bodyPr wrap="square" lIns="0" tIns="0" rIns="0" bIns="0" rtlCol="0" anchor="t"/>
          <a:lstStyle/>
          <a:p>
            <a:pPr indent="0" marL="0">
              <a:lnSpc>
                <a:spcPts val="1800"/>
              </a:lnSpc>
              <a:buNone/>
            </a:pPr>
            <a:r>
              <a:rPr lang="en-US" sz="1300" dirty="0">
                <a:solidFill>
                  <a:srgbClr val="515F74"/>
                </a:solidFill>
                <a:latin typeface="Arial" pitchFamily="34" charset="0"/>
                <a:ea typeface="Arial" pitchFamily="34" charset="-122"/>
                <a:cs typeface="Arial" pitchFamily="34" charset="-120"/>
              </a:rPr>
              <a:t>Small enough that the next lead can read it. The 3D viewer is hand-rolled WebGL with nothing behind it.</a:t>
            </a:r>
            <a:endParaRPr lang="en-US" sz="1300" dirty="0"/>
          </a:p>
        </p:txBody>
      </p:sp>
      <p:sp>
        <p:nvSpPr>
          <p:cNvPr id="15" name="Text 13"/>
          <p:cNvSpPr/>
          <p:nvPr/>
        </p:nvSpPr>
        <p:spPr>
          <a:xfrm>
            <a:off x="685800" y="5715000"/>
            <a:ext cx="10789920" cy="640080"/>
          </a:xfrm>
          <a:prstGeom prst="rect">
            <a:avLst/>
          </a:prstGeom>
          <a:noFill/>
          <a:ln/>
        </p:spPr>
        <p:txBody>
          <a:bodyPr wrap="square" lIns="0" tIns="0" rIns="0" bIns="0" rtlCol="0" anchor="t"/>
          <a:lstStyle/>
          <a:p>
            <a:pPr indent="0" marL="0">
              <a:lnSpc>
                <a:spcPts val="1800"/>
              </a:lnSpc>
              <a:buNone/>
            </a:pPr>
            <a:r>
              <a:rPr lang="en-US" sz="1300" i="1" dirty="0">
                <a:solidFill>
                  <a:srgbClr val="003262"/>
                </a:solidFill>
                <a:latin typeface="Arial" pitchFamily="34" charset="0"/>
                <a:ea typeface="Arial" pitchFamily="34" charset="-122"/>
                <a:cs typeface="Arial" pitchFamily="34" charset="-120"/>
              </a:rPr>
              <a:t>Two of the test suites render the real thing in a browser and measure it: every drawing sheet across 8 mold fixtures, checked for legibility down to a 5.5pt floor, and the whole app booted at 4 device widths with every printable opened.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D2B"/>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FDB515"/>
                </a:solidFill>
                <a:latin typeface="Arial" pitchFamily="34" charset="0"/>
                <a:ea typeface="Arial" pitchFamily="34" charset="-122"/>
                <a:cs typeface="Arial" pitchFamily="34" charset="-120"/>
              </a:rPr>
              <a:t>07  LIMITS AND THE ASK</a:t>
            </a:r>
            <a:endParaRPr lang="en-US" sz="1050" dirty="0"/>
          </a:p>
        </p:txBody>
      </p:sp>
      <p:sp>
        <p:nvSpPr>
          <p:cNvPr id="3" name="Text 1"/>
          <p:cNvSpPr/>
          <p:nvPr/>
        </p:nvSpPr>
        <p:spPr>
          <a:xfrm>
            <a:off x="685800" y="914400"/>
            <a:ext cx="7315200" cy="868680"/>
          </a:xfrm>
          <a:prstGeom prst="rect">
            <a:avLst/>
          </a:prstGeom>
          <a:noFill/>
          <a:ln/>
        </p:spPr>
        <p:txBody>
          <a:bodyPr wrap="square" lIns="0" tIns="0" rIns="0" bIns="0" rtlCol="0" anchor="t"/>
          <a:lstStyle/>
          <a:p>
            <a:pPr indent="0" marL="0">
              <a:buNone/>
            </a:pPr>
            <a:r>
              <a:rPr lang="en-US" sz="4400" b="1" spc="-50" kern="0" dirty="0">
                <a:solidFill>
                  <a:srgbClr val="FFFFFF"/>
                </a:solidFill>
                <a:latin typeface="Arial" pitchFamily="34" charset="0"/>
                <a:ea typeface="Arial" pitchFamily="34" charset="-122"/>
                <a:cs typeface="Arial" pitchFamily="34" charset="-120"/>
              </a:rPr>
              <a:t>What it does not do</a:t>
            </a:r>
            <a:endParaRPr lang="en-US" sz="4400" dirty="0"/>
          </a:p>
        </p:txBody>
      </p:sp>
      <p:sp>
        <p:nvSpPr>
          <p:cNvPr id="4" name="Text 2"/>
          <p:cNvSpPr/>
          <p:nvPr/>
        </p:nvSpPr>
        <p:spPr>
          <a:xfrm>
            <a:off x="685800" y="2286000"/>
            <a:ext cx="4114800" cy="685800"/>
          </a:xfrm>
          <a:prstGeom prst="rect">
            <a:avLst/>
          </a:prstGeom>
          <a:noFill/>
          <a:ln/>
        </p:spPr>
        <p:txBody>
          <a:bodyPr wrap="square" lIns="0" tIns="0" rIns="0" bIns="0" rtlCol="0" anchor="t"/>
          <a:lstStyle/>
          <a:p>
            <a:pPr indent="0" marL="0">
              <a:lnSpc>
                <a:spcPts val="2100"/>
              </a:lnSpc>
              <a:buNone/>
            </a:pPr>
            <a:r>
              <a:rPr lang="en-US" sz="1700" b="1" dirty="0">
                <a:solidFill>
                  <a:srgbClr val="FDB515"/>
                </a:solidFill>
                <a:latin typeface="Arial" pitchFamily="34" charset="0"/>
                <a:ea typeface="Arial" pitchFamily="34" charset="-122"/>
                <a:cs typeface="Arial" pitchFamily="34" charset="-120"/>
              </a:rPr>
              <a:t>Buy-offs are not tamper-proof</a:t>
            </a:r>
            <a:endParaRPr lang="en-US" sz="1700" dirty="0"/>
          </a:p>
        </p:txBody>
      </p:sp>
      <p:sp>
        <p:nvSpPr>
          <p:cNvPr id="5" name="Text 3"/>
          <p:cNvSpPr/>
          <p:nvPr/>
        </p:nvSpPr>
        <p:spPr>
          <a:xfrm>
            <a:off x="5074920" y="2267712"/>
            <a:ext cx="6400800" cy="914400"/>
          </a:xfrm>
          <a:prstGeom prst="rect">
            <a:avLst/>
          </a:prstGeom>
          <a:noFill/>
          <a:ln/>
        </p:spPr>
        <p:txBody>
          <a:bodyPr wrap="square" lIns="0" tIns="0" rIns="0" bIns="0" rtlCol="0" anchor="t"/>
          <a:lstStyle/>
          <a:p>
            <a:pPr indent="0" marL="0">
              <a:lnSpc>
                <a:spcPts val="1800"/>
              </a:lnSpc>
              <a:buNone/>
            </a:pPr>
            <a:r>
              <a:rPr lang="en-US" sz="1300" dirty="0">
                <a:solidFill>
                  <a:srgbClr val="9FB0C4"/>
                </a:solidFill>
                <a:latin typeface="Arial" pitchFamily="34" charset="0"/>
                <a:ea typeface="Arial" pitchFamily="34" charset="-122"/>
                <a:cs typeface="Arial" pitchFamily="34" charset="-120"/>
              </a:rPr>
              <a:t>They record who was signed in. Any roster member can still edit any record, and there is no in-app version history. Monthly JSON exports to Drive are the audit trail.</a:t>
            </a:r>
            <a:endParaRPr lang="en-US" sz="1300" dirty="0"/>
          </a:p>
        </p:txBody>
      </p:sp>
      <p:sp>
        <p:nvSpPr>
          <p:cNvPr id="6" name="Shape 4"/>
          <p:cNvSpPr/>
          <p:nvPr/>
        </p:nvSpPr>
        <p:spPr>
          <a:xfrm>
            <a:off x="685800" y="3182112"/>
            <a:ext cx="10789920" cy="10973"/>
          </a:xfrm>
          <a:prstGeom prst="rect">
            <a:avLst/>
          </a:prstGeom>
          <a:solidFill>
            <a:srgbClr val="2B3648"/>
          </a:solidFill>
          <a:ln/>
        </p:spPr>
      </p:sp>
      <p:sp>
        <p:nvSpPr>
          <p:cNvPr id="7" name="Text 5"/>
          <p:cNvSpPr/>
          <p:nvPr/>
        </p:nvSpPr>
        <p:spPr>
          <a:xfrm>
            <a:off x="685800" y="3383280"/>
            <a:ext cx="4114800" cy="685800"/>
          </a:xfrm>
          <a:prstGeom prst="rect">
            <a:avLst/>
          </a:prstGeom>
          <a:noFill/>
          <a:ln/>
        </p:spPr>
        <p:txBody>
          <a:bodyPr wrap="square" lIns="0" tIns="0" rIns="0" bIns="0" rtlCol="0" anchor="t"/>
          <a:lstStyle/>
          <a:p>
            <a:pPr indent="0" marL="0">
              <a:lnSpc>
                <a:spcPts val="2100"/>
              </a:lnSpc>
              <a:buNone/>
            </a:pPr>
            <a:r>
              <a:rPr lang="en-US" sz="1700" b="1" dirty="0">
                <a:solidFill>
                  <a:srgbClr val="FDB515"/>
                </a:solidFill>
                <a:latin typeface="Arial" pitchFamily="34" charset="0"/>
                <a:ea typeface="Arial" pitchFamily="34" charset="-122"/>
                <a:cs typeface="Arial" pitchFamily="34" charset="-120"/>
              </a:rPr>
              <a:t>Notifications are in-app only</a:t>
            </a:r>
            <a:endParaRPr lang="en-US" sz="1700" dirty="0"/>
          </a:p>
        </p:txBody>
      </p:sp>
      <p:sp>
        <p:nvSpPr>
          <p:cNvPr id="8" name="Text 6"/>
          <p:cNvSpPr/>
          <p:nvPr/>
        </p:nvSpPr>
        <p:spPr>
          <a:xfrm>
            <a:off x="5074920" y="3364992"/>
            <a:ext cx="6400800" cy="914400"/>
          </a:xfrm>
          <a:prstGeom prst="rect">
            <a:avLst/>
          </a:prstGeom>
          <a:noFill/>
          <a:ln/>
        </p:spPr>
        <p:txBody>
          <a:bodyPr wrap="square" lIns="0" tIns="0" rIns="0" bIns="0" rtlCol="0" anchor="t"/>
          <a:lstStyle/>
          <a:p>
            <a:pPr indent="0" marL="0">
              <a:lnSpc>
                <a:spcPts val="1800"/>
              </a:lnSpc>
              <a:buNone/>
            </a:pPr>
            <a:r>
              <a:rPr lang="en-US" sz="1300" dirty="0">
                <a:solidFill>
                  <a:srgbClr val="9FB0C4"/>
                </a:solidFill>
                <a:latin typeface="Arial" pitchFamily="34" charset="0"/>
                <a:ea typeface="Arial" pitchFamily="34" charset="-122"/>
                <a:cs typeface="Arial" pitchFamily="34" charset="-120"/>
              </a:rPr>
              <a:t>Watcher unread state lives in one browser. It does not sync between devices and it does not email.</a:t>
            </a:r>
            <a:endParaRPr lang="en-US" sz="1300" dirty="0"/>
          </a:p>
        </p:txBody>
      </p:sp>
      <p:sp>
        <p:nvSpPr>
          <p:cNvPr id="9" name="Shape 7"/>
          <p:cNvSpPr/>
          <p:nvPr/>
        </p:nvSpPr>
        <p:spPr>
          <a:xfrm>
            <a:off x="685800" y="4279392"/>
            <a:ext cx="10789920" cy="10973"/>
          </a:xfrm>
          <a:prstGeom prst="rect">
            <a:avLst/>
          </a:prstGeom>
          <a:solidFill>
            <a:srgbClr val="2B3648"/>
          </a:solidFill>
          <a:ln/>
        </p:spPr>
      </p:sp>
      <p:sp>
        <p:nvSpPr>
          <p:cNvPr id="10" name="Text 8"/>
          <p:cNvSpPr/>
          <p:nvPr/>
        </p:nvSpPr>
        <p:spPr>
          <a:xfrm>
            <a:off x="685800" y="4480560"/>
            <a:ext cx="4114800" cy="685800"/>
          </a:xfrm>
          <a:prstGeom prst="rect">
            <a:avLst/>
          </a:prstGeom>
          <a:noFill/>
          <a:ln/>
        </p:spPr>
        <p:txBody>
          <a:bodyPr wrap="square" lIns="0" tIns="0" rIns="0" bIns="0" rtlCol="0" anchor="t"/>
          <a:lstStyle/>
          <a:p>
            <a:pPr indent="0" marL="0">
              <a:lnSpc>
                <a:spcPts val="2100"/>
              </a:lnSpc>
              <a:buNone/>
            </a:pPr>
            <a:r>
              <a:rPr lang="en-US" sz="1700" b="1" dirty="0">
                <a:solidFill>
                  <a:srgbClr val="FDB515"/>
                </a:solidFill>
                <a:latin typeface="Arial" pitchFamily="34" charset="0"/>
                <a:ea typeface="Arial" pitchFamily="34" charset="-122"/>
                <a:cs typeface="Arial" pitchFamily="34" charset="-120"/>
              </a:rPr>
              <a:t>Four standards are outlined, not drafted</a:t>
            </a:r>
            <a:endParaRPr lang="en-US" sz="1700" dirty="0"/>
          </a:p>
        </p:txBody>
      </p:sp>
      <p:sp>
        <p:nvSpPr>
          <p:cNvPr id="11" name="Text 9"/>
          <p:cNvSpPr/>
          <p:nvPr/>
        </p:nvSpPr>
        <p:spPr>
          <a:xfrm>
            <a:off x="5074920" y="4462272"/>
            <a:ext cx="6400800" cy="914400"/>
          </a:xfrm>
          <a:prstGeom prst="rect">
            <a:avLst/>
          </a:prstGeom>
          <a:noFill/>
          <a:ln/>
        </p:spPr>
        <p:txBody>
          <a:bodyPr wrap="square" lIns="0" tIns="0" rIns="0" bIns="0" rtlCol="0" anchor="t"/>
          <a:lstStyle/>
          <a:p>
            <a:pPr indent="0" marL="0">
              <a:lnSpc>
                <a:spcPts val="1800"/>
              </a:lnSpc>
              <a:buNone/>
            </a:pPr>
            <a:r>
              <a:rPr lang="en-US" sz="1300" dirty="0">
                <a:solidFill>
                  <a:srgbClr val="9FB0C4"/>
                </a:solidFill>
                <a:latin typeface="Arial" pitchFamily="34" charset="0"/>
                <a:ea typeface="Arial" pitchFamily="34" charset="-122"/>
                <a:cs typeface="Arial" pitchFamily="34" charset="-120"/>
              </a:rPr>
              <a:t>CS-001, CS-007, CS-008 and CS-009. Outlined means the structure is there and the content isn't.</a:t>
            </a:r>
            <a:endParaRPr lang="en-US" sz="1300" dirty="0"/>
          </a:p>
        </p:txBody>
      </p:sp>
      <p:sp>
        <p:nvSpPr>
          <p:cNvPr id="12" name="Shape 10"/>
          <p:cNvSpPr/>
          <p:nvPr/>
        </p:nvSpPr>
        <p:spPr>
          <a:xfrm>
            <a:off x="685800" y="5376672"/>
            <a:ext cx="10789920" cy="10973"/>
          </a:xfrm>
          <a:prstGeom prst="rect">
            <a:avLst/>
          </a:prstGeom>
          <a:solidFill>
            <a:srgbClr val="2B3648"/>
          </a:solidFill>
          <a:ln/>
        </p:spPr>
      </p:sp>
      <p:sp>
        <p:nvSpPr>
          <p:cNvPr id="13" name="Text 11"/>
          <p:cNvSpPr/>
          <p:nvPr/>
        </p:nvSpPr>
        <p:spPr>
          <a:xfrm>
            <a:off x="685800" y="5577840"/>
            <a:ext cx="4114800" cy="685800"/>
          </a:xfrm>
          <a:prstGeom prst="rect">
            <a:avLst/>
          </a:prstGeom>
          <a:noFill/>
          <a:ln/>
        </p:spPr>
        <p:txBody>
          <a:bodyPr wrap="square" lIns="0" tIns="0" rIns="0" bIns="0" rtlCol="0" anchor="t"/>
          <a:lstStyle/>
          <a:p>
            <a:pPr indent="0" marL="0">
              <a:lnSpc>
                <a:spcPts val="2100"/>
              </a:lnSpc>
              <a:buNone/>
            </a:pPr>
            <a:r>
              <a:rPr lang="en-US" sz="1700" b="1" dirty="0">
                <a:solidFill>
                  <a:srgbClr val="FDB515"/>
                </a:solidFill>
                <a:latin typeface="Arial" pitchFamily="34" charset="0"/>
                <a:ea typeface="Arial" pitchFamily="34" charset="-122"/>
                <a:cs typeface="Arial" pitchFamily="34" charset="-120"/>
              </a:rPr>
              <a:t>STL export is beta</a:t>
            </a:r>
            <a:endParaRPr lang="en-US" sz="1700" dirty="0"/>
          </a:p>
        </p:txBody>
      </p:sp>
      <p:sp>
        <p:nvSpPr>
          <p:cNvPr id="14" name="Text 12"/>
          <p:cNvSpPr/>
          <p:nvPr/>
        </p:nvSpPr>
        <p:spPr>
          <a:xfrm>
            <a:off x="5074920" y="5559552"/>
            <a:ext cx="6400800" cy="914400"/>
          </a:xfrm>
          <a:prstGeom prst="rect">
            <a:avLst/>
          </a:prstGeom>
          <a:noFill/>
          <a:ln/>
        </p:spPr>
        <p:txBody>
          <a:bodyPr wrap="square" lIns="0" tIns="0" rIns="0" bIns="0" rtlCol="0" anchor="t"/>
          <a:lstStyle/>
          <a:p>
            <a:pPr indent="0" marL="0">
              <a:lnSpc>
                <a:spcPts val="1800"/>
              </a:lnSpc>
              <a:buNone/>
            </a:pPr>
            <a:r>
              <a:rPr lang="en-US" sz="1300" dirty="0">
                <a:solidFill>
                  <a:srgbClr val="9FB0C4"/>
                </a:solidFill>
                <a:latin typeface="Arial" pitchFamily="34" charset="0"/>
                <a:ea typeface="Arial" pitchFamily="34" charset="-122"/>
                <a:cs typeface="Arial" pitchFamily="34" charset="-120"/>
              </a:rPr>
              <a:t>Real exports still turn up surprises. Check the stack view before anyone cuts.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D2B"/>
        </a:solidFill>
      </p:bgPr>
    </p:bg>
    <p:spTree>
      <p:nvGrpSpPr>
        <p:cNvPr id="1" name=""/>
        <p:cNvGrpSpPr/>
        <p:nvPr/>
      </p:nvGrpSpPr>
      <p:grpSpPr>
        <a:xfrm>
          <a:off x="0" y="0"/>
          <a:ext cx="0" cy="0"/>
          <a:chOff x="0" y="0"/>
          <a:chExt cx="0" cy="0"/>
        </a:xfrm>
      </p:grpSpPr>
      <p:sp>
        <p:nvSpPr>
          <p:cNvPr id="2" name="Text 0"/>
          <p:cNvSpPr/>
          <p:nvPr/>
        </p:nvSpPr>
        <p:spPr>
          <a:xfrm>
            <a:off x="685800" y="457200"/>
            <a:ext cx="8229600" cy="237744"/>
          </a:xfrm>
          <a:prstGeom prst="rect">
            <a:avLst/>
          </a:prstGeom>
          <a:noFill/>
          <a:ln/>
        </p:spPr>
        <p:txBody>
          <a:bodyPr wrap="square" lIns="0" tIns="0" rIns="0" bIns="0" rtlCol="0" anchor="ctr"/>
          <a:lstStyle/>
          <a:p>
            <a:pPr indent="0" marL="0">
              <a:buNone/>
            </a:pPr>
            <a:r>
              <a:rPr lang="en-US" sz="1050" b="1" spc="220" kern="0" dirty="0">
                <a:solidFill>
                  <a:srgbClr val="FDB515"/>
                </a:solidFill>
                <a:latin typeface="Arial" pitchFamily="34" charset="0"/>
                <a:ea typeface="Arial" pitchFamily="34" charset="-122"/>
                <a:cs typeface="Arial" pitchFamily="34" charset="-120"/>
              </a:rPr>
              <a:t>07  LIMITS AND THE ASK</a:t>
            </a:r>
            <a:endParaRPr lang="en-US" sz="1050" dirty="0"/>
          </a:p>
        </p:txBody>
      </p:sp>
      <p:sp>
        <p:nvSpPr>
          <p:cNvPr id="3" name="Text 1"/>
          <p:cNvSpPr/>
          <p:nvPr/>
        </p:nvSpPr>
        <p:spPr>
          <a:xfrm>
            <a:off x="685800" y="868680"/>
            <a:ext cx="5486400" cy="822960"/>
          </a:xfrm>
          <a:prstGeom prst="rect">
            <a:avLst/>
          </a:prstGeom>
          <a:noFill/>
          <a:ln/>
        </p:spPr>
        <p:txBody>
          <a:bodyPr wrap="square" lIns="0" tIns="0" rIns="0" bIns="0" rtlCol="0" anchor="t"/>
          <a:lstStyle/>
          <a:p>
            <a:pPr indent="0" marL="0">
              <a:buNone/>
            </a:pPr>
            <a:r>
              <a:rPr lang="en-US" sz="4400" b="1" spc="-50" kern="0" dirty="0">
                <a:solidFill>
                  <a:srgbClr val="FFFFFF"/>
                </a:solidFill>
                <a:latin typeface="Arial" pitchFamily="34" charset="0"/>
                <a:ea typeface="Arial" pitchFamily="34" charset="-122"/>
                <a:cs typeface="Arial" pitchFamily="34" charset="-120"/>
              </a:rPr>
              <a:t>Four decisions</a:t>
            </a:r>
            <a:endParaRPr lang="en-US" sz="4400" dirty="0"/>
          </a:p>
        </p:txBody>
      </p:sp>
      <p:sp>
        <p:nvSpPr>
          <p:cNvPr id="4" name="Text 2"/>
          <p:cNvSpPr/>
          <p:nvPr/>
        </p:nvSpPr>
        <p:spPr>
          <a:xfrm>
            <a:off x="9921240" y="1572768"/>
            <a:ext cx="1554480" cy="237744"/>
          </a:xfrm>
          <a:prstGeom prst="rect">
            <a:avLst/>
          </a:prstGeom>
          <a:noFill/>
          <a:ln/>
        </p:spPr>
        <p:txBody>
          <a:bodyPr wrap="square" lIns="0" tIns="0" rIns="0" bIns="0" rtlCol="0" anchor="ctr"/>
          <a:lstStyle/>
          <a:p>
            <a:pPr algn="ctr" indent="0" marL="0">
              <a:buNone/>
            </a:pPr>
            <a:r>
              <a:rPr lang="en-US" sz="950" b="1" spc="200" kern="0" dirty="0">
                <a:solidFill>
                  <a:srgbClr val="FDB515"/>
                </a:solidFill>
                <a:latin typeface="Arial" pitchFamily="34" charset="0"/>
                <a:ea typeface="Arial" pitchFamily="34" charset="-122"/>
                <a:cs typeface="Arial" pitchFamily="34" charset="-120"/>
              </a:rPr>
              <a:t>WHO</a:t>
            </a:r>
            <a:endParaRPr lang="en-US" sz="950" dirty="0"/>
          </a:p>
        </p:txBody>
      </p:sp>
      <p:sp>
        <p:nvSpPr>
          <p:cNvPr id="5" name="Text 3"/>
          <p:cNvSpPr/>
          <p:nvPr/>
        </p:nvSpPr>
        <p:spPr>
          <a:xfrm>
            <a:off x="685800" y="1920240"/>
            <a:ext cx="685800" cy="457200"/>
          </a:xfrm>
          <a:prstGeom prst="rect">
            <a:avLst/>
          </a:prstGeom>
          <a:noFill/>
          <a:ln/>
        </p:spPr>
        <p:txBody>
          <a:bodyPr wrap="square" lIns="0" tIns="0" rIns="0" bIns="0" rtlCol="0" anchor="ctr"/>
          <a:lstStyle/>
          <a:p>
            <a:pPr indent="0" marL="0">
              <a:buNone/>
            </a:pPr>
            <a:r>
              <a:rPr lang="en-US" sz="2200" b="1" dirty="0">
                <a:solidFill>
                  <a:srgbClr val="FDB515"/>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1463040" y="1920240"/>
            <a:ext cx="3200400" cy="548640"/>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Arial" pitchFamily="34" charset="0"/>
                <a:ea typeface="Arial" pitchFamily="34" charset="-122"/>
                <a:cs typeface="Arial" pitchFamily="34" charset="-120"/>
              </a:rPr>
              <a:t>Adopt it for SN6</a:t>
            </a:r>
            <a:endParaRPr lang="en-US" sz="1700" dirty="0"/>
          </a:p>
        </p:txBody>
      </p:sp>
      <p:sp>
        <p:nvSpPr>
          <p:cNvPr id="7" name="Text 5"/>
          <p:cNvSpPr/>
          <p:nvPr/>
        </p:nvSpPr>
        <p:spPr>
          <a:xfrm>
            <a:off x="4800600" y="1929384"/>
            <a:ext cx="5074920" cy="914400"/>
          </a:xfrm>
          <a:prstGeom prst="rect">
            <a:avLst/>
          </a:prstGeom>
          <a:noFill/>
          <a:ln/>
        </p:spPr>
        <p:txBody>
          <a:bodyPr wrap="square" lIns="0" tIns="0" rIns="0" bIns="0" rtlCol="0" anchor="t"/>
          <a:lstStyle/>
          <a:p>
            <a:pPr indent="0" marL="0">
              <a:lnSpc>
                <a:spcPts val="1700"/>
              </a:lnSpc>
              <a:buNone/>
            </a:pPr>
            <a:r>
              <a:rPr lang="en-US" sz="1250" dirty="0">
                <a:solidFill>
                  <a:srgbClr val="9FB0C4"/>
                </a:solidFill>
                <a:latin typeface="Arial" pitchFamily="34" charset="0"/>
                <a:ea typeface="Arial" pitchFamily="34" charset="-122"/>
                <a:cs typeface="Arial" pitchFamily="34" charset="-120"/>
              </a:rPr>
              <a:t>Roster everyone in week 1, so it is the one place the season is written down.</a:t>
            </a:r>
            <a:endParaRPr lang="en-US" sz="1250" dirty="0"/>
          </a:p>
        </p:txBody>
      </p:sp>
      <p:sp>
        <p:nvSpPr>
          <p:cNvPr id="8" name="Text 6"/>
          <p:cNvSpPr/>
          <p:nvPr/>
        </p:nvSpPr>
        <p:spPr>
          <a:xfrm>
            <a:off x="9921240" y="1911096"/>
            <a:ext cx="1554480" cy="274320"/>
          </a:xfrm>
          <a:prstGeom prst="rect">
            <a:avLst/>
          </a:prstGeom>
          <a:noFill/>
          <a:ln/>
        </p:spPr>
        <p:txBody>
          <a:bodyPr wrap="square" lIns="0" tIns="0" rIns="0" bIns="0" rtlCol="0" anchor="ctr"/>
          <a:lstStyle/>
          <a:p>
            <a:pPr algn="ctr" indent="0" marL="0">
              <a:buNone/>
            </a:pPr>
            <a:endParaRPr lang="en-US" sz="1200" dirty="0"/>
          </a:p>
        </p:txBody>
      </p:sp>
      <p:sp>
        <p:nvSpPr>
          <p:cNvPr id="9" name="Shape 7"/>
          <p:cNvSpPr/>
          <p:nvPr/>
        </p:nvSpPr>
        <p:spPr>
          <a:xfrm>
            <a:off x="9966960" y="2203704"/>
            <a:ext cx="1463040" cy="10973"/>
          </a:xfrm>
          <a:prstGeom prst="rect">
            <a:avLst/>
          </a:prstGeom>
          <a:solidFill>
            <a:srgbClr val="FDB515"/>
          </a:solidFill>
          <a:ln/>
        </p:spPr>
      </p:sp>
      <p:sp>
        <p:nvSpPr>
          <p:cNvPr id="10" name="Text 8"/>
          <p:cNvSpPr/>
          <p:nvPr/>
        </p:nvSpPr>
        <p:spPr>
          <a:xfrm>
            <a:off x="9921240" y="2276856"/>
            <a:ext cx="1554480" cy="274320"/>
          </a:xfrm>
          <a:prstGeom prst="rect">
            <a:avLst/>
          </a:prstGeom>
          <a:noFill/>
          <a:ln/>
        </p:spPr>
        <p:txBody>
          <a:bodyPr wrap="square" lIns="0" tIns="0" rIns="0" bIns="0" rtlCol="0" anchor="t"/>
          <a:lstStyle/>
          <a:p>
            <a:pPr algn="ctr" indent="0" marL="0">
              <a:buNone/>
            </a:pPr>
            <a:r>
              <a:rPr lang="en-US" sz="1100" dirty="0">
                <a:solidFill>
                  <a:srgbClr val="9FB0C4"/>
                </a:solidFill>
                <a:latin typeface="Arial" pitchFamily="34" charset="0"/>
                <a:ea typeface="Arial" pitchFamily="34" charset="-122"/>
                <a:cs typeface="Arial" pitchFamily="34" charset="-120"/>
              </a:rPr>
              <a:t>Week 1</a:t>
            </a:r>
            <a:endParaRPr lang="en-US" sz="1100" dirty="0"/>
          </a:p>
        </p:txBody>
      </p:sp>
      <p:sp>
        <p:nvSpPr>
          <p:cNvPr id="11" name="Shape 9"/>
          <p:cNvSpPr/>
          <p:nvPr/>
        </p:nvSpPr>
        <p:spPr>
          <a:xfrm>
            <a:off x="685800" y="2843784"/>
            <a:ext cx="10789920" cy="10973"/>
          </a:xfrm>
          <a:prstGeom prst="rect">
            <a:avLst/>
          </a:prstGeom>
          <a:solidFill>
            <a:srgbClr val="2B3648"/>
          </a:solidFill>
          <a:ln/>
        </p:spPr>
      </p:sp>
      <p:sp>
        <p:nvSpPr>
          <p:cNvPr id="12" name="Text 10"/>
          <p:cNvSpPr/>
          <p:nvPr/>
        </p:nvSpPr>
        <p:spPr>
          <a:xfrm>
            <a:off x="685800" y="2999232"/>
            <a:ext cx="685800" cy="457200"/>
          </a:xfrm>
          <a:prstGeom prst="rect">
            <a:avLst/>
          </a:prstGeom>
          <a:noFill/>
          <a:ln/>
        </p:spPr>
        <p:txBody>
          <a:bodyPr wrap="square" lIns="0" tIns="0" rIns="0" bIns="0" rtlCol="0" anchor="ctr"/>
          <a:lstStyle/>
          <a:p>
            <a:pPr indent="0" marL="0">
              <a:buNone/>
            </a:pPr>
            <a:r>
              <a:rPr lang="en-US" sz="2200" b="1" dirty="0">
                <a:solidFill>
                  <a:srgbClr val="FDB515"/>
                </a:solidFill>
                <a:latin typeface="Arial" pitchFamily="34" charset="0"/>
                <a:ea typeface="Arial" pitchFamily="34" charset="-122"/>
                <a:cs typeface="Arial" pitchFamily="34" charset="-120"/>
              </a:rPr>
              <a:t>02</a:t>
            </a:r>
            <a:endParaRPr lang="en-US" sz="2200" dirty="0"/>
          </a:p>
        </p:txBody>
      </p:sp>
      <p:sp>
        <p:nvSpPr>
          <p:cNvPr id="13" name="Text 11"/>
          <p:cNvSpPr/>
          <p:nvPr/>
        </p:nvSpPr>
        <p:spPr>
          <a:xfrm>
            <a:off x="1463040" y="2999232"/>
            <a:ext cx="3200400" cy="548640"/>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Arial" pitchFamily="34" charset="0"/>
                <a:ea typeface="Arial" pitchFamily="34" charset="-122"/>
                <a:cs typeface="Arial" pitchFamily="34" charset="-120"/>
              </a:rPr>
              <a:t>Move the Firebase project</a:t>
            </a:r>
            <a:endParaRPr lang="en-US" sz="1700" dirty="0"/>
          </a:p>
        </p:txBody>
      </p:sp>
      <p:sp>
        <p:nvSpPr>
          <p:cNvPr id="14" name="Text 12"/>
          <p:cNvSpPr/>
          <p:nvPr/>
        </p:nvSpPr>
        <p:spPr>
          <a:xfrm>
            <a:off x="4800600" y="3008376"/>
            <a:ext cx="5074920" cy="914400"/>
          </a:xfrm>
          <a:prstGeom prst="rect">
            <a:avLst/>
          </a:prstGeom>
          <a:noFill/>
          <a:ln/>
        </p:spPr>
        <p:txBody>
          <a:bodyPr wrap="square" lIns="0" tIns="0" rIns="0" bIns="0" rtlCol="0" anchor="t"/>
          <a:lstStyle/>
          <a:p>
            <a:pPr indent="0" marL="0">
              <a:lnSpc>
                <a:spcPts val="1700"/>
              </a:lnSpc>
              <a:buNone/>
            </a:pPr>
            <a:r>
              <a:rPr lang="en-US" sz="1250" dirty="0">
                <a:solidFill>
                  <a:srgbClr val="9FB0C4"/>
                </a:solidFill>
                <a:latin typeface="Arial" pitchFamily="34" charset="0"/>
                <a:ea typeface="Arial" pitchFamily="34" charset="-122"/>
                <a:cs typeface="Arial" pitchFamily="34" charset="-120"/>
              </a:rPr>
              <a:t>feb-composites sits on a personal Google account. It has to move to a team account, or it is one graduation away from gone.</a:t>
            </a:r>
            <a:endParaRPr lang="en-US" sz="1250" dirty="0"/>
          </a:p>
        </p:txBody>
      </p:sp>
      <p:sp>
        <p:nvSpPr>
          <p:cNvPr id="15" name="Text 13"/>
          <p:cNvSpPr/>
          <p:nvPr/>
        </p:nvSpPr>
        <p:spPr>
          <a:xfrm>
            <a:off x="9921240" y="2990088"/>
            <a:ext cx="1554480" cy="274320"/>
          </a:xfrm>
          <a:prstGeom prst="rect">
            <a:avLst/>
          </a:prstGeom>
          <a:noFill/>
          <a:ln/>
        </p:spPr>
        <p:txBody>
          <a:bodyPr wrap="square" lIns="0" tIns="0" rIns="0" bIns="0" rtlCol="0" anchor="ctr"/>
          <a:lstStyle/>
          <a:p>
            <a:pPr algn="ctr" indent="0" marL="0">
              <a:buNone/>
            </a:pPr>
            <a:endParaRPr lang="en-US" sz="1200" dirty="0"/>
          </a:p>
        </p:txBody>
      </p:sp>
      <p:sp>
        <p:nvSpPr>
          <p:cNvPr id="16" name="Shape 14"/>
          <p:cNvSpPr/>
          <p:nvPr/>
        </p:nvSpPr>
        <p:spPr>
          <a:xfrm>
            <a:off x="9966960" y="3282696"/>
            <a:ext cx="1463040" cy="10973"/>
          </a:xfrm>
          <a:prstGeom prst="rect">
            <a:avLst/>
          </a:prstGeom>
          <a:solidFill>
            <a:srgbClr val="FDB515"/>
          </a:solidFill>
          <a:ln/>
        </p:spPr>
      </p:sp>
      <p:sp>
        <p:nvSpPr>
          <p:cNvPr id="17" name="Text 15"/>
          <p:cNvSpPr/>
          <p:nvPr/>
        </p:nvSpPr>
        <p:spPr>
          <a:xfrm>
            <a:off x="9921240" y="3355848"/>
            <a:ext cx="1554480" cy="274320"/>
          </a:xfrm>
          <a:prstGeom prst="rect">
            <a:avLst/>
          </a:prstGeom>
          <a:noFill/>
          <a:ln/>
        </p:spPr>
        <p:txBody>
          <a:bodyPr wrap="square" lIns="0" tIns="0" rIns="0" bIns="0" rtlCol="0" anchor="t"/>
          <a:lstStyle/>
          <a:p>
            <a:pPr algn="ctr" indent="0" marL="0">
              <a:buNone/>
            </a:pPr>
            <a:r>
              <a:rPr lang="en-US" sz="1100" dirty="0">
                <a:solidFill>
                  <a:srgbClr val="9FB0C4"/>
                </a:solidFill>
                <a:latin typeface="Arial" pitchFamily="34" charset="0"/>
                <a:ea typeface="Arial" pitchFamily="34" charset="-122"/>
                <a:cs typeface="Arial" pitchFamily="34" charset="-120"/>
              </a:rPr>
              <a:t>Before SN6 kickoff</a:t>
            </a:r>
            <a:endParaRPr lang="en-US" sz="1100" dirty="0"/>
          </a:p>
        </p:txBody>
      </p:sp>
      <p:sp>
        <p:nvSpPr>
          <p:cNvPr id="18" name="Shape 16"/>
          <p:cNvSpPr/>
          <p:nvPr/>
        </p:nvSpPr>
        <p:spPr>
          <a:xfrm>
            <a:off x="685800" y="3922776"/>
            <a:ext cx="10789920" cy="10973"/>
          </a:xfrm>
          <a:prstGeom prst="rect">
            <a:avLst/>
          </a:prstGeom>
          <a:solidFill>
            <a:srgbClr val="2B3648"/>
          </a:solidFill>
          <a:ln/>
        </p:spPr>
      </p:sp>
      <p:sp>
        <p:nvSpPr>
          <p:cNvPr id="19" name="Text 17"/>
          <p:cNvSpPr/>
          <p:nvPr/>
        </p:nvSpPr>
        <p:spPr>
          <a:xfrm>
            <a:off x="685800" y="4078224"/>
            <a:ext cx="685800" cy="457200"/>
          </a:xfrm>
          <a:prstGeom prst="rect">
            <a:avLst/>
          </a:prstGeom>
          <a:noFill/>
          <a:ln/>
        </p:spPr>
        <p:txBody>
          <a:bodyPr wrap="square" lIns="0" tIns="0" rIns="0" bIns="0" rtlCol="0" anchor="ctr"/>
          <a:lstStyle/>
          <a:p>
            <a:pPr indent="0" marL="0">
              <a:buNone/>
            </a:pPr>
            <a:r>
              <a:rPr lang="en-US" sz="2200" b="1" dirty="0">
                <a:solidFill>
                  <a:srgbClr val="FDB515"/>
                </a:solidFill>
                <a:latin typeface="Arial" pitchFamily="34" charset="0"/>
                <a:ea typeface="Arial" pitchFamily="34" charset="-122"/>
                <a:cs typeface="Arial" pitchFamily="34" charset="-120"/>
              </a:rPr>
              <a:t>03</a:t>
            </a:r>
            <a:endParaRPr lang="en-US" sz="2200" dirty="0"/>
          </a:p>
        </p:txBody>
      </p:sp>
      <p:sp>
        <p:nvSpPr>
          <p:cNvPr id="20" name="Text 18"/>
          <p:cNvSpPr/>
          <p:nvPr/>
        </p:nvSpPr>
        <p:spPr>
          <a:xfrm>
            <a:off x="1463040" y="4078224"/>
            <a:ext cx="3200400" cy="548640"/>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Arial" pitchFamily="34" charset="0"/>
                <a:ea typeface="Arial" pitchFamily="34" charset="-122"/>
                <a:cs typeface="Arial" pitchFamily="34" charset="-120"/>
              </a:rPr>
              <a:t>Sign the CS approval tables</a:t>
            </a:r>
            <a:endParaRPr lang="en-US" sz="1700" dirty="0"/>
          </a:p>
        </p:txBody>
      </p:sp>
      <p:sp>
        <p:nvSpPr>
          <p:cNvPr id="21" name="Text 19"/>
          <p:cNvSpPr/>
          <p:nvPr/>
        </p:nvSpPr>
        <p:spPr>
          <a:xfrm>
            <a:off x="4800600" y="4087368"/>
            <a:ext cx="5074920" cy="914400"/>
          </a:xfrm>
          <a:prstGeom prst="rect">
            <a:avLst/>
          </a:prstGeom>
          <a:noFill/>
          <a:ln/>
        </p:spPr>
        <p:txBody>
          <a:bodyPr wrap="square" lIns="0" tIns="0" rIns="0" bIns="0" rtlCol="0" anchor="t"/>
          <a:lstStyle/>
          <a:p>
            <a:pPr indent="0" marL="0">
              <a:lnSpc>
                <a:spcPts val="1700"/>
              </a:lnSpc>
              <a:buNone/>
            </a:pPr>
            <a:r>
              <a:rPr lang="en-US" sz="1250" dirty="0">
                <a:solidFill>
                  <a:srgbClr val="9FB0C4"/>
                </a:solidFill>
                <a:latin typeface="Arial" pitchFamily="34" charset="0"/>
                <a:ea typeface="Arial" pitchFamily="34" charset="-122"/>
                <a:cs typeface="Arial" pitchFamily="34" charset="-120"/>
              </a:rPr>
              <a:t>All 14 standards ship “Draft, pending Lead signature”.</a:t>
            </a:r>
            <a:endParaRPr lang="en-US" sz="1250" dirty="0"/>
          </a:p>
        </p:txBody>
      </p:sp>
      <p:sp>
        <p:nvSpPr>
          <p:cNvPr id="22" name="Text 20"/>
          <p:cNvSpPr/>
          <p:nvPr/>
        </p:nvSpPr>
        <p:spPr>
          <a:xfrm>
            <a:off x="9921240" y="4069080"/>
            <a:ext cx="1554480" cy="274320"/>
          </a:xfrm>
          <a:prstGeom prst="rect">
            <a:avLst/>
          </a:prstGeom>
          <a:noFill/>
          <a:ln/>
        </p:spPr>
        <p:txBody>
          <a:bodyPr wrap="square" lIns="0" tIns="0" rIns="0" bIns="0" rtlCol="0" anchor="ctr"/>
          <a:lstStyle/>
          <a:p>
            <a:pPr algn="ctr" indent="0" marL="0">
              <a:buNone/>
            </a:pPr>
            <a:endParaRPr lang="en-US" sz="1200" dirty="0"/>
          </a:p>
        </p:txBody>
      </p:sp>
      <p:sp>
        <p:nvSpPr>
          <p:cNvPr id="23" name="Shape 21"/>
          <p:cNvSpPr/>
          <p:nvPr/>
        </p:nvSpPr>
        <p:spPr>
          <a:xfrm>
            <a:off x="9966960" y="4361688"/>
            <a:ext cx="1463040" cy="10973"/>
          </a:xfrm>
          <a:prstGeom prst="rect">
            <a:avLst/>
          </a:prstGeom>
          <a:solidFill>
            <a:srgbClr val="FDB515"/>
          </a:solidFill>
          <a:ln/>
        </p:spPr>
      </p:sp>
      <p:sp>
        <p:nvSpPr>
          <p:cNvPr id="24" name="Text 22"/>
          <p:cNvSpPr/>
          <p:nvPr/>
        </p:nvSpPr>
        <p:spPr>
          <a:xfrm>
            <a:off x="9921240" y="4434840"/>
            <a:ext cx="1554480" cy="274320"/>
          </a:xfrm>
          <a:prstGeom prst="rect">
            <a:avLst/>
          </a:prstGeom>
          <a:noFill/>
          <a:ln/>
        </p:spPr>
        <p:txBody>
          <a:bodyPr wrap="square" lIns="0" tIns="0" rIns="0" bIns="0" rtlCol="0" anchor="t"/>
          <a:lstStyle/>
          <a:p>
            <a:pPr algn="ctr" indent="0" marL="0">
              <a:buNone/>
            </a:pPr>
            <a:r>
              <a:rPr lang="en-US" sz="1100" dirty="0">
                <a:solidFill>
                  <a:srgbClr val="9FB0C4"/>
                </a:solidFill>
                <a:latin typeface="Arial" pitchFamily="34" charset="0"/>
                <a:ea typeface="Arial" pitchFamily="34" charset="-122"/>
                <a:cs typeface="Arial" pitchFamily="34" charset="-120"/>
              </a:rPr>
              <a:t>Sept</a:t>
            </a:r>
            <a:endParaRPr lang="en-US" sz="1100" dirty="0"/>
          </a:p>
        </p:txBody>
      </p:sp>
      <p:sp>
        <p:nvSpPr>
          <p:cNvPr id="25" name="Shape 23"/>
          <p:cNvSpPr/>
          <p:nvPr/>
        </p:nvSpPr>
        <p:spPr>
          <a:xfrm>
            <a:off x="685800" y="5001768"/>
            <a:ext cx="10789920" cy="10973"/>
          </a:xfrm>
          <a:prstGeom prst="rect">
            <a:avLst/>
          </a:prstGeom>
          <a:solidFill>
            <a:srgbClr val="2B3648"/>
          </a:solidFill>
          <a:ln/>
        </p:spPr>
      </p:sp>
      <p:sp>
        <p:nvSpPr>
          <p:cNvPr id="26" name="Text 24"/>
          <p:cNvSpPr/>
          <p:nvPr/>
        </p:nvSpPr>
        <p:spPr>
          <a:xfrm>
            <a:off x="685800" y="5157216"/>
            <a:ext cx="685800" cy="457200"/>
          </a:xfrm>
          <a:prstGeom prst="rect">
            <a:avLst/>
          </a:prstGeom>
          <a:noFill/>
          <a:ln/>
        </p:spPr>
        <p:txBody>
          <a:bodyPr wrap="square" lIns="0" tIns="0" rIns="0" bIns="0" rtlCol="0" anchor="ctr"/>
          <a:lstStyle/>
          <a:p>
            <a:pPr indent="0" marL="0">
              <a:buNone/>
            </a:pPr>
            <a:r>
              <a:rPr lang="en-US" sz="2200" b="1" dirty="0">
                <a:solidFill>
                  <a:srgbClr val="FDB515"/>
                </a:solidFill>
                <a:latin typeface="Arial" pitchFamily="34" charset="0"/>
                <a:ea typeface="Arial" pitchFamily="34" charset="-122"/>
                <a:cs typeface="Arial" pitchFamily="34" charset="-120"/>
              </a:rPr>
              <a:t>04</a:t>
            </a:r>
            <a:endParaRPr lang="en-US" sz="2200" dirty="0"/>
          </a:p>
        </p:txBody>
      </p:sp>
      <p:sp>
        <p:nvSpPr>
          <p:cNvPr id="27" name="Text 25"/>
          <p:cNvSpPr/>
          <p:nvPr/>
        </p:nvSpPr>
        <p:spPr>
          <a:xfrm>
            <a:off x="1463040" y="5157216"/>
            <a:ext cx="3200400" cy="548640"/>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Arial" pitchFamily="34" charset="0"/>
                <a:ea typeface="Arial" pitchFamily="34" charset="-122"/>
                <a:cs typeface="Arial" pitchFamily="34" charset="-120"/>
              </a:rPr>
              <a:t>Field-verify CS-011 at RFS</a:t>
            </a:r>
            <a:endParaRPr lang="en-US" sz="1700" dirty="0"/>
          </a:p>
        </p:txBody>
      </p:sp>
      <p:sp>
        <p:nvSpPr>
          <p:cNvPr id="28" name="Text 26"/>
          <p:cNvSpPr/>
          <p:nvPr/>
        </p:nvSpPr>
        <p:spPr>
          <a:xfrm>
            <a:off x="4800600" y="5166360"/>
            <a:ext cx="5074920" cy="914400"/>
          </a:xfrm>
          <a:prstGeom prst="rect">
            <a:avLst/>
          </a:prstGeom>
          <a:noFill/>
          <a:ln/>
        </p:spPr>
        <p:txBody>
          <a:bodyPr wrap="square" lIns="0" tIns="0" rIns="0" bIns="0" rtlCol="0" anchor="t"/>
          <a:lstStyle/>
          <a:p>
            <a:pPr indent="0" marL="0">
              <a:lnSpc>
                <a:spcPts val="1700"/>
              </a:lnSpc>
              <a:buNone/>
            </a:pPr>
            <a:r>
              <a:rPr lang="en-US" sz="1250" dirty="0">
                <a:solidFill>
                  <a:srgbClr val="9FB0C4"/>
                </a:solidFill>
                <a:latin typeface="Arial" pitchFamily="34" charset="0"/>
                <a:ea typeface="Arial" pitchFamily="34" charset="-122"/>
                <a:cs typeface="Arial" pitchFamily="34" charset="-120"/>
              </a:rPr>
              <a:t>The storage map was written from records, not from standing in the room.</a:t>
            </a:r>
            <a:endParaRPr lang="en-US" sz="1250" dirty="0"/>
          </a:p>
        </p:txBody>
      </p:sp>
      <p:sp>
        <p:nvSpPr>
          <p:cNvPr id="29" name="Text 27"/>
          <p:cNvSpPr/>
          <p:nvPr/>
        </p:nvSpPr>
        <p:spPr>
          <a:xfrm>
            <a:off x="9921240" y="5148072"/>
            <a:ext cx="1554480" cy="274320"/>
          </a:xfrm>
          <a:prstGeom prst="rect">
            <a:avLst/>
          </a:prstGeom>
          <a:noFill/>
          <a:ln/>
        </p:spPr>
        <p:txBody>
          <a:bodyPr wrap="square" lIns="0" tIns="0" rIns="0" bIns="0" rtlCol="0" anchor="ctr"/>
          <a:lstStyle/>
          <a:p>
            <a:pPr algn="ctr" indent="0" marL="0">
              <a:buNone/>
            </a:pPr>
            <a:endParaRPr lang="en-US" sz="1200" dirty="0"/>
          </a:p>
        </p:txBody>
      </p:sp>
      <p:sp>
        <p:nvSpPr>
          <p:cNvPr id="30" name="Shape 28"/>
          <p:cNvSpPr/>
          <p:nvPr/>
        </p:nvSpPr>
        <p:spPr>
          <a:xfrm>
            <a:off x="9966960" y="5440680"/>
            <a:ext cx="1463040" cy="10973"/>
          </a:xfrm>
          <a:prstGeom prst="rect">
            <a:avLst/>
          </a:prstGeom>
          <a:solidFill>
            <a:srgbClr val="FDB515"/>
          </a:solidFill>
          <a:ln/>
        </p:spPr>
      </p:sp>
      <p:sp>
        <p:nvSpPr>
          <p:cNvPr id="31" name="Text 29"/>
          <p:cNvSpPr/>
          <p:nvPr/>
        </p:nvSpPr>
        <p:spPr>
          <a:xfrm>
            <a:off x="9921240" y="5513832"/>
            <a:ext cx="1554480" cy="274320"/>
          </a:xfrm>
          <a:prstGeom prst="rect">
            <a:avLst/>
          </a:prstGeom>
          <a:noFill/>
          <a:ln/>
        </p:spPr>
        <p:txBody>
          <a:bodyPr wrap="square" lIns="0" tIns="0" rIns="0" bIns="0" rtlCol="0" anchor="t"/>
          <a:lstStyle/>
          <a:p>
            <a:pPr algn="ctr" indent="0" marL="0">
              <a:buNone/>
            </a:pPr>
            <a:r>
              <a:rPr lang="en-US" sz="1100" dirty="0">
                <a:solidFill>
                  <a:srgbClr val="9FB0C4"/>
                </a:solidFill>
                <a:latin typeface="Arial" pitchFamily="34" charset="0"/>
                <a:ea typeface="Arial" pitchFamily="34" charset="-122"/>
                <a:cs typeface="Arial" pitchFamily="34" charset="-120"/>
              </a:rPr>
              <a:t>Sept</a:t>
            </a:r>
            <a:endParaRPr lang="en-US" sz="1100" dirty="0"/>
          </a:p>
        </p:txBody>
      </p:sp>
      <p:sp>
        <p:nvSpPr>
          <p:cNvPr id="32" name="Text 30"/>
          <p:cNvSpPr/>
          <p:nvPr/>
        </p:nvSpPr>
        <p:spPr>
          <a:xfrm>
            <a:off x="685800" y="6126480"/>
            <a:ext cx="5486400" cy="274320"/>
          </a:xfrm>
          <a:prstGeom prst="rect">
            <a:avLst/>
          </a:prstGeom>
          <a:noFill/>
          <a:ln/>
        </p:spPr>
        <p:txBody>
          <a:bodyPr wrap="square" lIns="0" tIns="0" rIns="0" bIns="0" rtlCol="0" anchor="ctr"/>
          <a:lstStyle/>
          <a:p>
            <a:pPr indent="0" marL="0">
              <a:buNone/>
            </a:pPr>
            <a:r>
              <a:rPr lang="en-US" sz="1300" b="1" dirty="0">
                <a:solidFill>
                  <a:srgbClr val="FDB515"/>
                </a:solidFill>
                <a:latin typeface="Arial" pitchFamily="34" charset="0"/>
                <a:ea typeface="Arial" pitchFamily="34" charset="-122"/>
                <a:cs typeface="Arial" pitchFamily="34" charset="-120"/>
              </a:rPr>
              <a:t>feb-composites.web.app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FEB Composites — the SN6 workspace</dc:title>
  <dc:subject>PptxGenJS Presentation</dc:subject>
  <dc:creator>FEB Composites</dc:creator>
  <cp:lastModifiedBy>FEB Composites</cp:lastModifiedBy>
  <cp:revision>1</cp:revision>
  <dcterms:created xsi:type="dcterms:W3CDTF">2026-07-31T07:22:05Z</dcterms:created>
  <dcterms:modified xsi:type="dcterms:W3CDTF">2026-07-31T07:22:05Z</dcterms:modified>
</cp:coreProperties>
</file>