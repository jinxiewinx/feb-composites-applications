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COMPOSITES  ·  SN6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8778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Prepreg Feasibility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SN6 Wing Endplates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SN5 endplates were 2272 g of flat plate. Here is the plan to fix that.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PFS-001 Rev A  ·  2026-07-31  ·  feasibility study + BOM + test deadlines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464040" y="2743200"/>
            <a:ext cx="2011680" cy="14630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8" name="Shape 6"/>
          <p:cNvSpPr/>
          <p:nvPr/>
        </p:nvSpPr>
        <p:spPr>
          <a:xfrm>
            <a:off x="9518904" y="2944368"/>
            <a:ext cx="54864" cy="621792"/>
          </a:xfrm>
          <a:prstGeom prst="rect">
            <a:avLst/>
          </a:prstGeom>
          <a:solidFill>
            <a:srgbClr val="23548B"/>
          </a:solidFill>
          <a:ln/>
        </p:spPr>
      </p:sp>
      <p:sp>
        <p:nvSpPr>
          <p:cNvPr id="9" name="Shape 7"/>
          <p:cNvSpPr/>
          <p:nvPr/>
        </p:nvSpPr>
        <p:spPr>
          <a:xfrm>
            <a:off x="9838944" y="2944368"/>
            <a:ext cx="54864" cy="621792"/>
          </a:xfrm>
          <a:prstGeom prst="rect">
            <a:avLst/>
          </a:prstGeom>
          <a:solidFill>
            <a:srgbClr val="23548B"/>
          </a:solidFill>
          <a:ln/>
        </p:spPr>
      </p:sp>
      <p:sp>
        <p:nvSpPr>
          <p:cNvPr id="10" name="Shape 8"/>
          <p:cNvSpPr/>
          <p:nvPr/>
        </p:nvSpPr>
        <p:spPr>
          <a:xfrm>
            <a:off x="10158984" y="2944368"/>
            <a:ext cx="54864" cy="621792"/>
          </a:xfrm>
          <a:prstGeom prst="rect">
            <a:avLst/>
          </a:prstGeom>
          <a:solidFill>
            <a:srgbClr val="23548B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9024" y="2944368"/>
            <a:ext cx="54864" cy="621792"/>
          </a:xfrm>
          <a:prstGeom prst="rect">
            <a:avLst/>
          </a:prstGeom>
          <a:solidFill>
            <a:srgbClr val="23548B"/>
          </a:solidFill>
          <a:ln/>
        </p:spPr>
      </p:sp>
      <p:sp>
        <p:nvSpPr>
          <p:cNvPr id="12" name="Shape 10"/>
          <p:cNvSpPr/>
          <p:nvPr/>
        </p:nvSpPr>
        <p:spPr>
          <a:xfrm>
            <a:off x="10799064" y="2944368"/>
            <a:ext cx="54864" cy="621792"/>
          </a:xfrm>
          <a:prstGeom prst="rect">
            <a:avLst/>
          </a:prstGeom>
          <a:solidFill>
            <a:srgbClr val="23548B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19104" y="2944368"/>
            <a:ext cx="54864" cy="621792"/>
          </a:xfrm>
          <a:prstGeom prst="rect">
            <a:avLst/>
          </a:prstGeom>
          <a:solidFill>
            <a:srgbClr val="23548B"/>
          </a:solidFill>
          <a:ln/>
        </p:spPr>
      </p:sp>
      <p:sp>
        <p:nvSpPr>
          <p:cNvPr id="14" name="Shape 12"/>
          <p:cNvSpPr/>
          <p:nvPr/>
        </p:nvSpPr>
        <p:spPr>
          <a:xfrm>
            <a:off x="9464040" y="3621024"/>
            <a:ext cx="2011680" cy="146304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15" name="Text 13"/>
          <p:cNvSpPr/>
          <p:nvPr/>
        </p:nvSpPr>
        <p:spPr>
          <a:xfrm>
            <a:off x="8869680" y="3931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FA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plies carbon · Nomex · 2 plies carbon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our flat plates weigh kilograms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206240" cy="4663440"/>
          </a:xfrm>
          <a:prstGeom prst="roundRect">
            <a:avLst>
              <a:gd name="adj" fmla="val 1739"/>
            </a:avLst>
          </a:prstGeom>
          <a:solidFill>
            <a:srgbClr val="00326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2272 g</a:t>
            </a:r>
            <a:endParaRPr lang="en-US" sz="66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SN5 rear wing endplate set (P-SN5-008)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infusion over 0.25 in Nomex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4069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plies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rear (WO-SN5-008)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46177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plies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front (WO-SN5-014)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5349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were the heaviest simple parts we made.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57800" y="1463040"/>
            <a:ext cx="566928" cy="566928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5201" y="161044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035040" y="1408176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needs the plies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035040" y="1810512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 is roughly a third the stiffness of carbon per ply, so panel stiffness took 7 plies where carbon needs 2 per side.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57800" y="3035808"/>
            <a:ext cx="566928" cy="566928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201" y="3183209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035040" y="298094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Infusion resin content is whatever the bag decides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6035040" y="3383280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Resin fraction depends on mesh, vacuum quality, and when the line gets clipped. Nobody chose that weight; the process did.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257800" y="4608576"/>
            <a:ext cx="566928" cy="566928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5201" y="4755977"/>
            <a:ext cx="272125" cy="2721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0" y="455371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heavy panels, no knob to turn</a:t>
            </a:r>
            <a:endParaRPr lang="en-US" sz="1650" dirty="0"/>
          </a:p>
        </p:txBody>
      </p:sp>
      <p:sp>
        <p:nvSpPr>
          <p:cNvPr id="20" name="Text 15"/>
          <p:cNvSpPr/>
          <p:nvPr/>
        </p:nvSpPr>
        <p:spPr>
          <a:xfrm>
            <a:off x="6035040" y="4956048"/>
            <a:ext cx="5577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on glass infusion means SN6 endplates come out the same. Getting lighter needs a process change, not more care.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proposal: prepreg skins, cocured to our Nomex, oven cure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EF2F7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737360"/>
            <a:ext cx="603504" cy="603504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159" y="1894271"/>
            <a:ext cx="289682" cy="289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Factory-set resin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1248" y="2971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Prepreg is cloth pre-impregnated with an exact resin content. No mixing, no pot life, no infusion lines, no trap. The panel weighs what the stack math says.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EF2F7"/>
          </a:solidFill>
          <a:ln/>
        </p:spPr>
      </p:sp>
      <p:sp>
        <p:nvSpPr>
          <p:cNvPr id="9" name="Shape 6"/>
          <p:cNvSpPr/>
          <p:nvPr/>
        </p:nvSpPr>
        <p:spPr>
          <a:xfrm>
            <a:off x="4636008" y="1737360"/>
            <a:ext cx="603504" cy="603504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919" y="1894271"/>
            <a:ext cx="289682" cy="28968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6008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cure, whole sandwich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636008" y="2971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Skins cocure straight onto the Nomex core ACP already donated. Vacuum bag only; no autoclave anywhere in this plan.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8138160" y="141732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EEF2F7"/>
          </a:solidFill>
          <a:ln/>
        </p:spPr>
      </p:sp>
      <p:sp>
        <p:nvSpPr>
          <p:cNvPr id="14" name="Shape 10"/>
          <p:cNvSpPr/>
          <p:nvPr/>
        </p:nvSpPr>
        <p:spPr>
          <a:xfrm>
            <a:off x="8430768" y="1737360"/>
            <a:ext cx="603504" cy="603504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7679" y="1894271"/>
            <a:ext cx="289682" cy="28968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430768" y="2514600"/>
            <a:ext cx="2971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instead of patience</a:t>
            </a:r>
            <a:endParaRPr lang="en-US" sz="1700" dirty="0"/>
          </a:p>
        </p:txBody>
      </p:sp>
      <p:sp>
        <p:nvSpPr>
          <p:cNvPr id="17" name="Text 12"/>
          <p:cNvSpPr/>
          <p:nvPr/>
        </p:nvSpPr>
        <p:spPr>
          <a:xfrm>
            <a:off x="8430768" y="297180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 cures a panel in hours with a logged temperature trace, instead of 14 days to full ambient-cure properties.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48006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003262"/>
          </a:solidFill>
          <a:ln/>
        </p:spPr>
      </p:sp>
      <p:sp>
        <p:nvSpPr>
          <p:cNvPr id="19" name="Text 14"/>
          <p:cNvSpPr/>
          <p:nvPr/>
        </p:nvSpPr>
        <p:spPr>
          <a:xfrm>
            <a:off x="914400" y="4983480"/>
            <a:ext cx="10332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to 45%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estimated saving: 800 to 1000 g off the RW endplate set</a:t>
            </a:r>
            <a:endParaRPr lang="en-US" sz="3800" dirty="0"/>
          </a:p>
        </p:txBody>
      </p:sp>
      <p:sp>
        <p:nvSpPr>
          <p:cNvPr id="20" name="Text 15"/>
          <p:cNvSpPr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from cloth and core datasheets. Measured test panels supersede them; that is what the fall timeline produces.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material paths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00326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08760" y="1673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A: ACP RTS prepreg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 gsm 2x2 twill carbon, room-temperature storage: no freezer at all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4 h at 132 °C, vacuum bag + oven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already sponsors us (they donated the Nomex)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sell expired rolls at clearance: the donation ask is nearly free for them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out-life makes the whole schedule slack-tolerant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EEF2F7"/>
          </a:solidFill>
          <a:ln/>
        </p:spPr>
      </p:sp>
      <p:sp>
        <p:nvSpPr>
          <p:cNvPr id="9" name="Shape 7"/>
          <p:cNvSpPr/>
          <p:nvPr/>
        </p:nvSpPr>
        <p:spPr>
          <a:xfrm>
            <a:off x="6492240" y="1600200"/>
            <a:ext cx="548640" cy="548640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178040" y="167335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B: XPREG XC110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537960" y="2286000"/>
            <a:ext cx="4800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gsm 2x2 twill carbon, about $46.49 per yard retail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Cures from 85 °C: a DIY or domestic oven is enough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freezer (-18 °C) and a 30-day out-time log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from the UK: customs delay risk we already lived through (PP-02)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we know, but not a sponsor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3776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D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120640"/>
            <a:ext cx="10332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coupling: </a:t>
            </a:r>
            <a:pPr indent="0" marL="0">
              <a:buNone/>
            </a:pPr>
            <a:r>
              <a:rPr lang="en-US" sz="14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deletes the freezer question but needs a 132 °C oven. B only needs 85 °C but needs the freezer and beats the out-life clock. </a:t>
            </a:r>
            <a:pPr indent="0" marL="0">
              <a:buNone/>
            </a:pPr>
            <a:r>
              <a:rPr lang="en-US" sz="14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decide Sep 4, after ACP answers and the oven question is settled.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bond to honeycomb without an autoclave?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490472"/>
            <a:ext cx="219456" cy="219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per published studies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188720" y="1655064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Vacuum-bag-only cocure of prepreg skins on Nomex is a documented, workable process, not an experiment we invented.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2542032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66090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249631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geometry is the easy case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188720" y="2825496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crush concentrates at ramped or chamfered core edges. Endplates are flat panels with square-cut core: the classic driver is absent.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3712464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831336"/>
            <a:ext cx="219456" cy="21945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88720" y="36667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Fillets from adhesive film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1188720" y="3995928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of XA120 film bonds skin to cell walls. If a with/without coupon shows our prepreg self-adheres, we drop the film and save 300 g/m².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48640" y="4882896"/>
            <a:ext cx="457200" cy="457200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5001768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48371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Controls, not hope</a:t>
            </a:r>
            <a:endParaRPr lang="en-US" sz="1550" dirty="0"/>
          </a:p>
        </p:txBody>
      </p:sp>
      <p:sp>
        <p:nvSpPr>
          <p:cNvPr id="18" name="Text 12"/>
          <p:cNvSpPr/>
          <p:nvPr/>
        </p:nvSpPr>
        <p:spPr>
          <a:xfrm>
            <a:off x="1188720" y="516636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vented core per the literature, section cuts on the cocure panel, and the CS-006 drop test carried straight over.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7132320" y="1371600"/>
            <a:ext cx="4572000" cy="4663440"/>
          </a:xfrm>
          <a:prstGeom prst="roundRect">
            <a:avLst>
              <a:gd name="adj" fmla="val 1600"/>
            </a:avLst>
          </a:prstGeom>
          <a:solidFill>
            <a:srgbClr val="EEF2F7"/>
          </a:solidFill>
          <a:ln/>
        </p:spPr>
      </p:sp>
      <p:sp>
        <p:nvSpPr>
          <p:cNvPr id="20" name="Text 14"/>
          <p:cNvSpPr/>
          <p:nvPr/>
        </p:nvSpPr>
        <p:spPr>
          <a:xfrm>
            <a:off x="7132320" y="1572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Cocured sandwich, one cure cycle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7406640" y="2148840"/>
            <a:ext cx="4023360" cy="274320"/>
          </a:xfrm>
          <a:prstGeom prst="rect">
            <a:avLst/>
          </a:prstGeom>
          <a:solidFill>
            <a:srgbClr val="003262"/>
          </a:solidFill>
          <a:ln/>
        </p:spPr>
      </p:sp>
      <p:sp>
        <p:nvSpPr>
          <p:cNvPr id="22" name="Text 16"/>
          <p:cNvSpPr/>
          <p:nvPr/>
        </p:nvSpPr>
        <p:spPr>
          <a:xfrm>
            <a:off x="7406640" y="21305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prepreg skin, 2 plies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406640" y="2423160"/>
            <a:ext cx="4023360" cy="109728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24" name="Shape 18"/>
          <p:cNvSpPr/>
          <p:nvPr/>
        </p:nvSpPr>
        <p:spPr>
          <a:xfrm>
            <a:off x="7406640" y="2532888"/>
            <a:ext cx="402336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0A4A8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85368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30072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74776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19480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64184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1008888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53592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0982960" y="2532888"/>
            <a:ext cx="0" cy="1371600"/>
          </a:xfrm>
          <a:prstGeom prst="line">
            <a:avLst/>
          </a:prstGeom>
          <a:noFill/>
          <a:ln w="9525">
            <a:solidFill>
              <a:srgbClr val="0A4A8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955280" y="3063240"/>
            <a:ext cx="2926080" cy="31089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Nomex honeycomb 0.25 in ($0, donated)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406640" y="3904488"/>
            <a:ext cx="4023360" cy="109728"/>
          </a:xfrm>
          <a:prstGeom prst="rect">
            <a:avLst/>
          </a:prstGeom>
          <a:solidFill>
            <a:srgbClr val="FDB515"/>
          </a:solidFill>
          <a:ln/>
        </p:spPr>
      </p:sp>
      <p:sp>
        <p:nvSpPr>
          <p:cNvPr id="35" name="Shape 29"/>
          <p:cNvSpPr/>
          <p:nvPr/>
        </p:nvSpPr>
        <p:spPr>
          <a:xfrm>
            <a:off x="7406640" y="4014216"/>
            <a:ext cx="4023360" cy="274320"/>
          </a:xfrm>
          <a:prstGeom prst="rect">
            <a:avLst/>
          </a:prstGeom>
          <a:solidFill>
            <a:srgbClr val="003262"/>
          </a:solidFill>
          <a:ln/>
        </p:spPr>
      </p:sp>
      <p:sp>
        <p:nvSpPr>
          <p:cNvPr id="36" name="Text 30"/>
          <p:cNvSpPr/>
          <p:nvPr/>
        </p:nvSpPr>
        <p:spPr>
          <a:xfrm>
            <a:off x="7406640" y="39959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prepreg skin, 2 plies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7360920" y="4517136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= resin fillet bond lines.</a:t>
            </a:r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Section cuts on Panel 2 prove the fillets are continuous and the core is not crushed before any car part gets laid up.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RFS: the Larry conversation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EEF2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691640"/>
            <a:ext cx="566928" cy="566928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 we share the CalSol freezer?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matters on Path B (XC110). Our discipline rules, written before anyone asks: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moisture-proof bags only, labeled with date and out-time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Out-time log rides with the roll (30-day budget)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Thaw sealed, so condensation lands on the bag, not the cloth</a:t>
            </a:r>
            <a:endParaRPr lang="en-US" sz="1250" dirty="0"/>
          </a:p>
          <a:p>
            <a:pPr marL="152400" indent="-152400">
              <a:buSzPct val="100000"/>
              <a:buChar char="•"/>
            </a:pPr>
            <a:r>
              <a:rPr lang="en-US" sz="12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 food fridge. We remember 2026-02-17.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99632" y="1371600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EEF2F7"/>
          </a:solidFill>
          <a:ln/>
        </p:spPr>
      </p:sp>
      <p:sp>
        <p:nvSpPr>
          <p:cNvPr id="9" name="Shape 6"/>
          <p:cNvSpPr/>
          <p:nvPr/>
        </p:nvSpPr>
        <p:spPr>
          <a:xfrm>
            <a:off x="6519672" y="1691640"/>
            <a:ext cx="566928" cy="566928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073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51192" y="1783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oven can we use?</a:t>
            </a:r>
            <a:endParaRPr lang="en-US" sz="1650" dirty="0"/>
          </a:p>
        </p:txBody>
      </p:sp>
      <p:sp>
        <p:nvSpPr>
          <p:cNvPr id="12" name="Text 8"/>
          <p:cNvSpPr/>
          <p:nvPr/>
        </p:nvSpPr>
        <p:spPr>
          <a:xfrm>
            <a:off x="6565392" y="237744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 needs 132 °C, Path B only 85 °C. Options in order: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oven that already exists at RFS:  $0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used domestic oven:  $50 to 150 (never food again)</a:t>
            </a:r>
            <a:endParaRPr lang="en-US" sz="12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insulated PID box sized to the endplate:  $200 to 400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footprint and circuit if we bring our own.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52578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DF3DC"/>
          </a:solidFill>
          <a:ln/>
        </p:spPr>
      </p:sp>
      <p:sp>
        <p:nvSpPr>
          <p:cNvPr id="14" name="Text 10"/>
          <p:cNvSpPr/>
          <p:nvPr/>
        </p:nvSpPr>
        <p:spPr>
          <a:xfrm>
            <a:off x="914400" y="54406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either way: </a:t>
            </a:r>
            <a:pPr indent="0" marL="0">
              <a:buNone/>
            </a:pPr>
            <a:r>
              <a:rPr lang="en-US" sz="140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panel cures until an empty-oven thermal survey passes with a logged ramp (~2 °C/min) and dwell inside the datasheet band.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ask sponsors, and why they say yes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003262"/>
          </a:solidFill>
          <a:ln/>
        </p:spPr>
      </p:sp>
      <p:sp>
        <p:nvSpPr>
          <p:cNvPr id="4" name="Shape 2"/>
          <p:cNvSpPr/>
          <p:nvPr/>
        </p:nvSpPr>
        <p:spPr>
          <a:xfrm>
            <a:off x="841248" y="1691640"/>
            <a:ext cx="566928" cy="566928"/>
          </a:xfrm>
          <a:prstGeom prst="ellipse">
            <a:avLst/>
          </a:prstGeom>
          <a:solidFill>
            <a:srgbClr val="1A4A7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8649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Composites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572768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sponsor, donated our Nomex core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expired RTS prepreg roll from their clearance stock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clearance page proves the stock exists; expired is fine, we coupon-test first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cost to them, a whole new process for us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box: a roll of Stretchlon 800 high-temp bag film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37160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EEF2F7"/>
          </a:solidFill>
          <a:ln/>
        </p:spPr>
      </p:sp>
      <p:sp>
        <p:nvSpPr>
          <p:cNvPr id="10" name="Shape 7"/>
          <p:cNvSpPr/>
          <p:nvPr/>
        </p:nvSpPr>
        <p:spPr>
          <a:xfrm>
            <a:off x="6510528" y="1691640"/>
            <a:ext cx="566928" cy="566928"/>
          </a:xfrm>
          <a:prstGeom prst="ellipse">
            <a:avLst/>
          </a:prstGeom>
          <a:solidFill>
            <a:srgbClr val="00326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929" y="183904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42048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Airtech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7242048" y="21214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consumables sponsor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6537960" y="2651760"/>
            <a:ext cx="4800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High-temperature bagging consumables: film, sealant tape, release, breather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infusion film (VB160) is rated 160 °C; cure cycles want real margin</a:t>
            </a:r>
            <a:endParaRPr lang="en-US" sz="1250" dirty="0"/>
          </a:p>
          <a:p>
            <a:pPr marL="152400" indent="-1524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Small-dollar ask, recurring visibility on every cure we run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emails out by Aug 14, routed through the lead per CS-012. Draft text is in the study, Appendix A.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Cost: retail worst case vs sponsored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  <a:gridCol w="1645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26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Prepreg carbon, ~10 yd² (3 panels + endplate set)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$465 to 1,522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(ACP expired roll)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XA120 adhesive film, ~3 yd²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Nomex 0.25 in core, 2 sheets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(already donated)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High-temp bag film, tape, release, breather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 (Airtech)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Thermocouple logger, 2-ch K-type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 to 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 to 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Cure oven (Larry conversation decides)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to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 to 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Freezer (Path B only; $0 if CalSol shares)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 to 250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3D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183880" y="13716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EEF2F7"/>
          </a:solidFill>
          <a:ln/>
        </p:spPr>
      </p:sp>
      <p:sp>
        <p:nvSpPr>
          <p:cNvPr id="5" name="Text 2"/>
          <p:cNvSpPr/>
          <p:nvPr/>
        </p:nvSpPr>
        <p:spPr>
          <a:xfrm>
            <a:off x="8458200" y="16002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RETAIL, NO SPONSORS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458200" y="19202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$400 to 900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845820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oven $0 to 400. Still a viable pilot.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183880" y="32918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003262"/>
          </a:solidFill>
          <a:ln/>
        </p:spPr>
      </p:sp>
      <p:sp>
        <p:nvSpPr>
          <p:cNvPr id="9" name="Text 6"/>
          <p:cNvSpPr/>
          <p:nvPr/>
        </p:nvSpPr>
        <p:spPr>
          <a:xfrm>
            <a:off x="845820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PATH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458200" y="3840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$105 to 535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845820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 roll + Airtech consumables donated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52578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requires out-of-pocket at or under $500. </a:t>
            </a:r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sponsored column is how we get there; the retail column is the honest worst case.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decision before the semester ends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91640" y="1481328"/>
            <a:ext cx="0" cy="4846320"/>
          </a:xfrm>
          <a:prstGeom prst="line">
            <a:avLst/>
          </a:prstGeom>
          <a:noFill/>
          <a:ln w="25400">
            <a:solidFill>
              <a:srgbClr val="C5D2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4416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441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14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1618488" y="1463040"/>
            <a:ext cx="146304" cy="146304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7" name="Text 5"/>
          <p:cNvSpPr/>
          <p:nvPr/>
        </p:nvSpPr>
        <p:spPr>
          <a:xfrm>
            <a:off x="1965960" y="13441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emails out: ACP (expired roll + Stretchlon), Airtech (consumables)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18928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928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21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18488" y="2011680"/>
            <a:ext cx="146304" cy="146304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11" name="Text 9"/>
          <p:cNvSpPr/>
          <p:nvPr/>
        </p:nvSpPr>
        <p:spPr>
          <a:xfrm>
            <a:off x="1965960" y="18928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Larry answers in writing: CalSol freezer, oven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44144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FDB51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4414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4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618488" y="2560320"/>
            <a:ext cx="146304" cy="146304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15" name="Text 13"/>
          <p:cNvSpPr/>
          <p:nvPr/>
        </p:nvSpPr>
        <p:spPr>
          <a:xfrm>
            <a:off x="1965960" y="244144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 </a:t>
            </a:r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A/B chosen, order placed. No order before the decision.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299008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FDB51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900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25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1618488" y="3108960"/>
            <a:ext cx="146304" cy="146304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19" name="Text 17"/>
          <p:cNvSpPr/>
          <p:nvPr/>
        </p:nvSpPr>
        <p:spPr>
          <a:xfrm>
            <a:off x="1965960" y="299008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 </a:t>
            </a:r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Oven commissioned, empty-oven thermal survey passed. No cure before survey.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53872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53872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9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1618488" y="3657600"/>
            <a:ext cx="146304" cy="146304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23" name="Text 21"/>
          <p:cNvSpPr/>
          <p:nvPr/>
        </p:nvSpPr>
        <p:spPr>
          <a:xfrm>
            <a:off x="1965960" y="353872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1: flat monolithic prepreg, cure-log review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08736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30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618488" y="4206240"/>
            <a:ext cx="146304" cy="146304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27" name="Text 25"/>
          <p:cNvSpPr/>
          <p:nvPr/>
        </p:nvSpPr>
        <p:spPr>
          <a:xfrm>
            <a:off x="1965960" y="40873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2: cocure over Nomex + section cuts for fillets and core crush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63600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63600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 20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1618488" y="4754880"/>
            <a:ext cx="146304" cy="146304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31" name="Text 29"/>
          <p:cNvSpPr/>
          <p:nvPr/>
        </p:nvSpPr>
        <p:spPr>
          <a:xfrm>
            <a:off x="1965960" y="463600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3 pair: prepreg vs SN5-equivalent glass. Weigh + 3-point bend.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548640" y="518464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FDB515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518464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4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618488" y="5303520"/>
            <a:ext cx="146304" cy="146304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35" name="Text 33"/>
          <p:cNvSpPr/>
          <p:nvPr/>
        </p:nvSpPr>
        <p:spPr>
          <a:xfrm>
            <a:off x="1965960" y="518464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8A6D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 </a:t>
            </a:r>
            <a:pPr indent="0" marL="0">
              <a:buNone/>
            </a:pPr>
            <a:r>
              <a:rPr lang="en-US" sz="1350" b="1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 review with the Lead, recorded as Rev B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8640" y="5733288"/>
            <a:ext cx="960120" cy="384048"/>
          </a:xfrm>
          <a:prstGeom prst="roundRect">
            <a:avLst>
              <a:gd name="adj" fmla="val 14286"/>
            </a:avLst>
          </a:prstGeom>
          <a:solidFill>
            <a:srgbClr val="003262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733288"/>
            <a:ext cx="960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11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1618488" y="5852160"/>
            <a:ext cx="146304" cy="146304"/>
          </a:xfrm>
          <a:prstGeom prst="ellipse">
            <a:avLst/>
          </a:prstGeom>
          <a:solidFill>
            <a:srgbClr val="003262"/>
          </a:solidFill>
          <a:ln/>
        </p:spPr>
      </p:sp>
      <p:sp>
        <p:nvSpPr>
          <p:cNvPr id="39" name="Text 37"/>
          <p:cNvSpPr/>
          <p:nvPr/>
        </p:nvSpPr>
        <p:spPr>
          <a:xfrm>
            <a:off x="1965960" y="573328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1350" dirty="0">
                <a:solidFill>
                  <a:srgbClr val="1A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GO: CS-014 scoped, SN6 endplate work order drafted for spring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Go/no-go criteria, decided Dec 4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75488" cy="475488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267" y="1495227"/>
            <a:ext cx="228234" cy="2282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37160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30% lighter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4480560" y="137160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per m² against the SN5-equivalent glass panel, same area, same scale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48640" y="2240280"/>
            <a:ext cx="475488" cy="475488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7" y="2363907"/>
            <a:ext cx="228234" cy="2282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24028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Stiffness holds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4480560" y="224028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3-point-bend stiffness at or above the glass baseline panel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3108960"/>
            <a:ext cx="475488" cy="475488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67" y="3232587"/>
            <a:ext cx="228234" cy="2282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310896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survives</a:t>
            </a:r>
            <a:endParaRPr lang="en-US" sz="1700" dirty="0"/>
          </a:p>
        </p:txBody>
      </p:sp>
      <p:sp>
        <p:nvSpPr>
          <p:cNvPr id="14" name="Text 9"/>
          <p:cNvSpPr/>
          <p:nvPr/>
        </p:nvSpPr>
        <p:spPr>
          <a:xfrm>
            <a:off x="4480560" y="310896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core crush; section cuts show continuous resin fillets at the cell walls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3977640"/>
            <a:ext cx="475488" cy="475488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7" y="4101267"/>
            <a:ext cx="228234" cy="22823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97764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Cure is proven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4480560" y="39776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panel's logged ramp and dwell inside the datasheet band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548640" y="4846320"/>
            <a:ext cx="475488" cy="475488"/>
          </a:xfrm>
          <a:prstGeom prst="ellipse">
            <a:avLst/>
          </a:prstGeom>
          <a:solidFill>
            <a:srgbClr val="FDB51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267" y="4969947"/>
            <a:ext cx="228234" cy="22823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34440" y="4846320"/>
            <a:ext cx="3108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$500 out of pocket</a:t>
            </a:r>
            <a:endParaRPr lang="en-US" sz="1700" dirty="0"/>
          </a:p>
        </p:txBody>
      </p:sp>
      <p:sp>
        <p:nvSpPr>
          <p:cNvPr id="22" name="Text 15"/>
          <p:cNvSpPr/>
          <p:nvPr/>
        </p:nvSpPr>
        <p:spPr>
          <a:xfrm>
            <a:off x="4480560" y="484632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pilot spend on the sponsored path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“We decide with a scale and a bend test, not vibes.”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48640" y="63093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criterion failed: NO-GO, reasons recorded, fallback is carbon infusion on the process we already run.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326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this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68680" y="1828800"/>
            <a:ext cx="201168" cy="201168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7099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CS-014: Prepreg Layup and Oven Cure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280160" y="2075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team standard written from the pilot's own records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724912"/>
            <a:ext cx="201168" cy="201168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26060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SN6 wing skins go prepreg next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280160" y="29718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composite mass after the endplates (one more study first: tooling board at cure temp)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621024"/>
            <a:ext cx="201168" cy="201168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35021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capability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1280160" y="3867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oven and freezer stay; elevated post-cure stops being aspirational for infusion too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517136"/>
            <a:ext cx="201168" cy="201168"/>
          </a:xfrm>
          <a:prstGeom prst="ellipse">
            <a:avLst/>
          </a:prstGeom>
          <a:solidFill>
            <a:srgbClr val="FDB515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39826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DB51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deeper ACP relationship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1280160" y="4764024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core donor to process sponsor, with clearance stock available every season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486400"/>
            <a:ext cx="10515600" cy="868680"/>
          </a:xfrm>
          <a:prstGeom prst="roundRect">
            <a:avLst>
              <a:gd name="adj" fmla="val 8421"/>
            </a:avLst>
          </a:prstGeom>
          <a:solidFill>
            <a:srgbClr val="FDB515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5486400"/>
            <a:ext cx="9966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 this week: </a:t>
            </a:r>
            <a:pPr indent="0" marL="0">
              <a:buNone/>
            </a:pPr>
            <a:r>
              <a:rPr lang="en-US" sz="1650" dirty="0">
                <a:solidFill>
                  <a:srgbClr val="0032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two outreach emails. Everything else on the timeline hangs off them.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2026-07-31T06:41:18Z</dcterms:created>
  <dcterms:modified xsi:type="dcterms:W3CDTF">2026-07-31T06:41:18Z</dcterms:modified>
</cp:coreProperties>
</file>